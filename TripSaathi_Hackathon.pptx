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Hinglish: Apna naam aur team introduce karo. Ek line mein bolo: TripSaathi ek smart planner hai jo budget, logon aur dino ko dekhkar destination chunta hai aur har rupaye ka hisaab batata hai. Hackathon, team aur members ka naam yahan bhar lena.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Hinglish: Problem bolo. Trip ka plan YouTube, travel apps, WhatsApp group aur spreadsheet mein bikhra hota hai, aur budget sabse last mein dekha jaata hai. Beech wale card ka example apni life se jodo, jaise tumhare group ke saath bhi hua ho to wo bolo.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Hinglish: Travel apps destination aur hotel dikhate hain, par ye nahi batate ki tumhare budget mein poora trip hoga ya nahi. Hamara planner budget se shuru karta hai. Ye slide Q&amp;A mein "MakeMyTrip se alag kaise?" ka jawab bhi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Hinglish: Ye main idea slide hai. 5 steps: enter, estimate, fit, split, plan. Bolo ki user sirf teen number daalta hai, baaki sab maths aur planning planner khud karta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Hinglish: Diagram left se right padho. Input aata hai, cost engine har destination ka kharcha nikalta hai, ranking best option chunti hai, phir breakdown aur itinerary banti hai. Honest raho: abhi sab rule-based hai aur browser mein chalta hai. Claude API aur live prices next phase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Hinglish: Ye tumhari sabse strong slide hai. Yahan live demo karo: budget, log aur din daalo, Plan my trip dabao, phir breakdown aur day plan dikhao, aur Other options mein se doosri destination par click karke dikhao. Tip: planner ka real screenshot khinch kar is mock ki jagah laga sakte ho. Demo ka backup screen recording zaroor rakho.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Hinglish: Impact bolo: budget par jhagde nahi honge, planning ghanto ki jagah seconds mein hogi, aur har kisi ko apna hissa pata hoga. Roadmap mein honestly batao ki abhi kya ready hai aur aage kya aayega. GitHub link aur team ka naam neeche bhar dena. Phir Thank you bolke Q&amp;A ke liye ready raho.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4213D"/>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3F7F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indent="0" marL="0">
              <a:buNone/>
              <a:defRPr lang="en-US" sz="2600" b="1" dirty="0">
                <a:solidFill>
                  <a:srgbClr val="14213D"/>
                </a:solidFill>
                <a:latin typeface="Cambria" pitchFamily="34" charset="0"/>
                <a:ea typeface="Cambria" pitchFamily="34" charset="-122"/>
                <a:cs typeface="Cambria" pitchFamily="34" charset="-120"/>
              </a:defRPr>
            </a:lvl1pPr>
          </a:lstStyle>
          <a:p>
            <a:pPr indent="0" marL="0">
              <a:buNone/>
            </a:pPr>
            <a:endParaRPr lang="en-US" sz="2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48640"/>
            <a:ext cx="5029200" cy="320040"/>
          </a:xfrm>
          <a:prstGeom prst="rect">
            <a:avLst/>
          </a:prstGeom>
          <a:noFill/>
          <a:ln/>
        </p:spPr>
        <p:txBody>
          <a:bodyPr wrap="square" lIns="0" tIns="0" rIns="0" bIns="0" rtlCol="0" anchor="t"/>
          <a:lstStyle/>
          <a:p>
            <a:pPr indent="0" marL="0">
              <a:buNone/>
            </a:pPr>
            <a:r>
              <a:rPr lang="en-US" sz="1400" b="1" dirty="0">
                <a:solidFill>
                  <a:srgbClr val="F2A900"/>
                </a:solidFill>
                <a:latin typeface="Calibri" pitchFamily="34" charset="0"/>
                <a:ea typeface="Calibri" pitchFamily="34" charset="-122"/>
                <a:cs typeface="Calibri" pitchFamily="34" charset="-120"/>
              </a:rPr>
              <a:t>[Hackathon name]</a:t>
            </a:r>
            <a:endParaRPr lang="en-US" sz="1400" dirty="0"/>
          </a:p>
        </p:txBody>
      </p:sp>
      <p:sp>
        <p:nvSpPr>
          <p:cNvPr id="3" name="Text 1"/>
          <p:cNvSpPr txBox="1"/>
          <p:nvPr/>
        </p:nvSpPr>
        <p:spPr>
          <a:xfrm>
            <a:off x="548640" y="1097280"/>
            <a:ext cx="5029200" cy="914400"/>
          </a:xfrm>
          <a:prstGeom prst="rect">
            <a:avLst/>
          </a:prstGeom>
          <a:noFill/>
          <a:ln/>
        </p:spPr>
        <p:txBody>
          <a:bodyPr wrap="square" lIns="0" tIns="0" rIns="0" bIns="0" rtlCol="0" anchor="t"/>
          <a:lstStyle/>
          <a:p>
            <a:pPr indent="0" marL="0">
              <a:buNone/>
            </a:pPr>
            <a:r>
              <a:rPr lang="en-US" sz="5400" b="1" dirty="0">
                <a:solidFill>
                  <a:srgbClr val="FFFFFF"/>
                </a:solidFill>
                <a:latin typeface="Cambria" pitchFamily="34" charset="0"/>
                <a:ea typeface="Cambria" pitchFamily="34" charset="-122"/>
                <a:cs typeface="Cambria" pitchFamily="34" charset="-120"/>
              </a:rPr>
              <a:t>TripSaathi</a:t>
            </a:r>
            <a:endParaRPr lang="en-US" sz="5400" dirty="0"/>
          </a:p>
        </p:txBody>
      </p:sp>
      <p:sp>
        <p:nvSpPr>
          <p:cNvPr id="4" name="Text 2"/>
          <p:cNvSpPr txBox="1"/>
          <p:nvPr/>
        </p:nvSpPr>
        <p:spPr>
          <a:xfrm>
            <a:off x="548640" y="2194560"/>
            <a:ext cx="4754880" cy="822960"/>
          </a:xfrm>
          <a:prstGeom prst="rect">
            <a:avLst/>
          </a:prstGeom>
          <a:noFill/>
          <a:ln/>
        </p:spPr>
        <p:txBody>
          <a:bodyPr wrap="square" lIns="0" tIns="0" rIns="0" bIns="0" rtlCol="0" anchor="t"/>
          <a:lstStyle/>
          <a:p>
            <a:pPr indent="0" marL="0">
              <a:buNone/>
            </a:pPr>
            <a:r>
              <a:rPr lang="en-US" sz="1800" dirty="0">
                <a:solidFill>
                  <a:srgbClr val="D5DEEC"/>
                </a:solidFill>
                <a:latin typeface="Calibri" pitchFamily="34" charset="0"/>
                <a:ea typeface="Calibri" pitchFamily="34" charset="-122"/>
                <a:cs typeface="Calibri" pitchFamily="34" charset="-120"/>
              </a:rPr>
              <a:t>A smart AI planner that reads your trip budget, picks the destination and splits every rupee.</a:t>
            </a:r>
            <a:endParaRPr lang="en-US" sz="1800" dirty="0"/>
          </a:p>
        </p:txBody>
      </p:sp>
      <p:sp>
        <p:nvSpPr>
          <p:cNvPr id="5" name="Text 3"/>
          <p:cNvSpPr txBox="1"/>
          <p:nvPr/>
        </p:nvSpPr>
        <p:spPr>
          <a:xfrm>
            <a:off x="548640" y="3931920"/>
            <a:ext cx="5029200" cy="640080"/>
          </a:xfrm>
          <a:prstGeom prst="rect">
            <a:avLst/>
          </a:prstGeom>
          <a:noFill/>
          <a:ln/>
        </p:spPr>
        <p:txBody>
          <a:bodyPr wrap="square" lIns="0" tIns="0" rIns="0" bIns="0" rtlCol="0" anchor="t"/>
          <a:lstStyle/>
          <a:p>
            <a:pPr indent="0" marL="0">
              <a:buNone/>
            </a:pPr>
            <a:r>
              <a:rPr lang="en-US" sz="1300" dirty="0">
                <a:solidFill>
                  <a:srgbClr val="B9C6DD"/>
                </a:solidFill>
                <a:latin typeface="Calibri" pitchFamily="34" charset="0"/>
                <a:ea typeface="Calibri" pitchFamily="34" charset="-122"/>
                <a:cs typeface="Calibri" pitchFamily="34" charset="-120"/>
              </a:rPr>
              <a:t>Team: [Team name]</a:t>
            </a:r>
            <a:endParaRPr lang="en-US" sz="1300" dirty="0"/>
          </a:p>
          <a:p>
            <a:pPr indent="0" marL="0">
              <a:buNone/>
            </a:pPr>
            <a:r>
              <a:rPr lang="en-US" sz="1300" dirty="0">
                <a:solidFill>
                  <a:srgbClr val="B9C6DD"/>
                </a:solidFill>
                <a:latin typeface="Calibri" pitchFamily="34" charset="0"/>
                <a:ea typeface="Calibri" pitchFamily="34" charset="-122"/>
                <a:cs typeface="Calibri" pitchFamily="34" charset="-120"/>
              </a:rPr>
              <a:t>Members: [Name 1], [Name 2], [Name 3]</a:t>
            </a:r>
            <a:endParaRPr lang="en-US" sz="1300" dirty="0"/>
          </a:p>
        </p:txBody>
      </p:sp>
      <p:sp>
        <p:nvSpPr>
          <p:cNvPr id="6" name="Shape 4"/>
          <p:cNvSpPr/>
          <p:nvPr/>
        </p:nvSpPr>
        <p:spPr>
          <a:xfrm>
            <a:off x="6126480" y="1097280"/>
            <a:ext cx="2468880" cy="868680"/>
          </a:xfrm>
          <a:prstGeom prst="roundRect">
            <a:avLst>
              <a:gd name="adj" fmla="val 8421"/>
            </a:avLst>
          </a:prstGeom>
          <a:solidFill>
            <a:srgbClr val="FFFFFF"/>
          </a:solidFill>
          <a:ln w="9525">
            <a:solidFill>
              <a:srgbClr val="FFFFFF"/>
            </a:solidFill>
            <a:prstDash val="solid"/>
          </a:ln>
        </p:spPr>
      </p:sp>
      <p:sp>
        <p:nvSpPr>
          <p:cNvPr id="7" name="Text 5"/>
          <p:cNvSpPr txBox="1"/>
          <p:nvPr/>
        </p:nvSpPr>
        <p:spPr>
          <a:xfrm>
            <a:off x="6355080" y="1216152"/>
            <a:ext cx="2011680" cy="27432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Budget</a:t>
            </a:r>
            <a:endParaRPr lang="en-US" sz="1200" dirty="0"/>
          </a:p>
        </p:txBody>
      </p:sp>
      <p:sp>
        <p:nvSpPr>
          <p:cNvPr id="8" name="Text 6"/>
          <p:cNvSpPr txBox="1"/>
          <p:nvPr/>
        </p:nvSpPr>
        <p:spPr>
          <a:xfrm>
            <a:off x="6355080" y="1490472"/>
            <a:ext cx="2011680" cy="457200"/>
          </a:xfrm>
          <a:prstGeom prst="rect">
            <a:avLst/>
          </a:prstGeom>
          <a:noFill/>
          <a:ln/>
        </p:spPr>
        <p:txBody>
          <a:bodyPr wrap="square" lIns="0" tIns="0" rIns="0" bIns="0" rtlCol="0" anchor="t"/>
          <a:lstStyle/>
          <a:p>
            <a:pPr indent="0" marL="0">
              <a:buNone/>
            </a:pPr>
            <a:r>
              <a:rPr lang="en-US" sz="2600" b="1" dirty="0">
                <a:solidFill>
                  <a:srgbClr val="0E7C86"/>
                </a:solidFill>
                <a:latin typeface="Cambria" pitchFamily="34" charset="0"/>
                <a:ea typeface="Cambria" pitchFamily="34" charset="-122"/>
                <a:cs typeface="Cambria" pitchFamily="34" charset="-120"/>
              </a:rPr>
              <a:t>₹40,000</a:t>
            </a:r>
            <a:endParaRPr lang="en-US" sz="2600" dirty="0"/>
          </a:p>
        </p:txBody>
      </p:sp>
      <p:sp>
        <p:nvSpPr>
          <p:cNvPr id="9" name="Shape 7"/>
          <p:cNvSpPr/>
          <p:nvPr/>
        </p:nvSpPr>
        <p:spPr>
          <a:xfrm>
            <a:off x="6126480" y="2148840"/>
            <a:ext cx="2468880" cy="868680"/>
          </a:xfrm>
          <a:prstGeom prst="roundRect">
            <a:avLst>
              <a:gd name="adj" fmla="val 8421"/>
            </a:avLst>
          </a:prstGeom>
          <a:solidFill>
            <a:srgbClr val="FFFFFF"/>
          </a:solidFill>
          <a:ln w="9525">
            <a:solidFill>
              <a:srgbClr val="FFFFFF"/>
            </a:solidFill>
            <a:prstDash val="solid"/>
          </a:ln>
        </p:spPr>
      </p:sp>
      <p:sp>
        <p:nvSpPr>
          <p:cNvPr id="10" name="Text 8"/>
          <p:cNvSpPr txBox="1"/>
          <p:nvPr/>
        </p:nvSpPr>
        <p:spPr>
          <a:xfrm>
            <a:off x="6355080" y="2267712"/>
            <a:ext cx="2011680" cy="27432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People</a:t>
            </a:r>
            <a:endParaRPr lang="en-US" sz="1200" dirty="0"/>
          </a:p>
        </p:txBody>
      </p:sp>
      <p:sp>
        <p:nvSpPr>
          <p:cNvPr id="11" name="Text 9"/>
          <p:cNvSpPr txBox="1"/>
          <p:nvPr/>
        </p:nvSpPr>
        <p:spPr>
          <a:xfrm>
            <a:off x="6355080" y="2542032"/>
            <a:ext cx="2011680" cy="457200"/>
          </a:xfrm>
          <a:prstGeom prst="rect">
            <a:avLst/>
          </a:prstGeom>
          <a:noFill/>
          <a:ln/>
        </p:spPr>
        <p:txBody>
          <a:bodyPr wrap="square" lIns="0" tIns="0" rIns="0" bIns="0" rtlCol="0" anchor="t"/>
          <a:lstStyle/>
          <a:p>
            <a:pPr indent="0" marL="0">
              <a:buNone/>
            </a:pPr>
            <a:r>
              <a:rPr lang="en-US" sz="2600" b="1" dirty="0">
                <a:solidFill>
                  <a:srgbClr val="0E7C86"/>
                </a:solidFill>
                <a:latin typeface="Cambria" pitchFamily="34" charset="0"/>
                <a:ea typeface="Cambria" pitchFamily="34" charset="-122"/>
                <a:cs typeface="Cambria" pitchFamily="34" charset="-120"/>
              </a:rPr>
              <a:t>4</a:t>
            </a:r>
            <a:endParaRPr lang="en-US" sz="2600" dirty="0"/>
          </a:p>
        </p:txBody>
      </p:sp>
      <p:sp>
        <p:nvSpPr>
          <p:cNvPr id="12" name="Shape 10"/>
          <p:cNvSpPr/>
          <p:nvPr/>
        </p:nvSpPr>
        <p:spPr>
          <a:xfrm>
            <a:off x="6126480" y="3200400"/>
            <a:ext cx="2468880" cy="868680"/>
          </a:xfrm>
          <a:prstGeom prst="roundRect">
            <a:avLst>
              <a:gd name="adj" fmla="val 8421"/>
            </a:avLst>
          </a:prstGeom>
          <a:solidFill>
            <a:srgbClr val="FFFFFF"/>
          </a:solidFill>
          <a:ln w="9525">
            <a:solidFill>
              <a:srgbClr val="FFFFFF"/>
            </a:solidFill>
            <a:prstDash val="solid"/>
          </a:ln>
        </p:spPr>
      </p:sp>
      <p:sp>
        <p:nvSpPr>
          <p:cNvPr id="13" name="Text 11"/>
          <p:cNvSpPr txBox="1"/>
          <p:nvPr/>
        </p:nvSpPr>
        <p:spPr>
          <a:xfrm>
            <a:off x="6355080" y="3319272"/>
            <a:ext cx="2011680" cy="27432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Days</a:t>
            </a:r>
            <a:endParaRPr lang="en-US" sz="1200" dirty="0"/>
          </a:p>
        </p:txBody>
      </p:sp>
      <p:sp>
        <p:nvSpPr>
          <p:cNvPr id="14" name="Text 12"/>
          <p:cNvSpPr txBox="1"/>
          <p:nvPr/>
        </p:nvSpPr>
        <p:spPr>
          <a:xfrm>
            <a:off x="6355080" y="3593592"/>
            <a:ext cx="2011680" cy="457200"/>
          </a:xfrm>
          <a:prstGeom prst="rect">
            <a:avLst/>
          </a:prstGeom>
          <a:noFill/>
          <a:ln/>
        </p:spPr>
        <p:txBody>
          <a:bodyPr wrap="square" lIns="0" tIns="0" rIns="0" bIns="0" rtlCol="0" anchor="t"/>
          <a:lstStyle/>
          <a:p>
            <a:pPr indent="0" marL="0">
              <a:buNone/>
            </a:pPr>
            <a:r>
              <a:rPr lang="en-US" sz="2600" b="1" dirty="0">
                <a:solidFill>
                  <a:srgbClr val="0E7C86"/>
                </a:solidFill>
                <a:latin typeface="Cambria" pitchFamily="34" charset="0"/>
                <a:ea typeface="Cambria" pitchFamily="34" charset="-122"/>
                <a:cs typeface="Cambria" pitchFamily="34" charset="-120"/>
              </a:rPr>
              <a:t>5</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Group trips fall apart over money</a:t>
            </a:r>
            <a:endParaRPr lang="en-US" sz="2600" dirty="0"/>
          </a:p>
        </p:txBody>
      </p:sp>
      <p:sp>
        <p:nvSpPr>
          <p:cNvPr id="4" name="Text 1"/>
          <p:cNvSpPr txBox="1"/>
          <p:nvPr/>
        </p:nvSpPr>
        <p:spPr>
          <a:xfrm>
            <a:off x="457200" y="1097280"/>
            <a:ext cx="2743200" cy="274320"/>
          </a:xfrm>
          <a:prstGeom prst="rect">
            <a:avLst/>
          </a:prstGeom>
          <a:noFill/>
          <a:ln/>
        </p:spPr>
        <p:txBody>
          <a:bodyPr wrap="square" lIns="0" tIns="0" rIns="0" bIns="0" rtlCol="0" anchor="t"/>
          <a:lstStyle/>
          <a:p>
            <a:pPr indent="0" marL="0">
              <a:buNone/>
            </a:pPr>
            <a:r>
              <a:rPr lang="en-US" sz="1400" b="1" dirty="0">
                <a:solidFill>
                  <a:srgbClr val="0E7C86"/>
                </a:solidFill>
                <a:latin typeface="Calibri" pitchFamily="34" charset="0"/>
                <a:ea typeface="Calibri" pitchFamily="34" charset="-122"/>
                <a:cs typeface="Calibri" pitchFamily="34" charset="-120"/>
              </a:rPr>
              <a:t>Where plans live</a:t>
            </a:r>
            <a:endParaRPr lang="en-US" sz="1400" dirty="0"/>
          </a:p>
        </p:txBody>
      </p:sp>
      <p:sp>
        <p:nvSpPr>
          <p:cNvPr id="5" name="Shape 2"/>
          <p:cNvSpPr/>
          <p:nvPr/>
        </p:nvSpPr>
        <p:spPr>
          <a:xfrm>
            <a:off x="457200" y="1463040"/>
            <a:ext cx="2743200" cy="658368"/>
          </a:xfrm>
          <a:prstGeom prst="roundRect">
            <a:avLst>
              <a:gd name="adj" fmla="val 11111"/>
            </a:avLst>
          </a:prstGeom>
          <a:solidFill>
            <a:srgbClr val="FFFFFF"/>
          </a:solidFill>
          <a:ln w="9525">
            <a:solidFill>
              <a:srgbClr val="D9E2EA"/>
            </a:solidFill>
            <a:prstDash val="solid"/>
          </a:ln>
        </p:spPr>
      </p:sp>
      <p:sp>
        <p:nvSpPr>
          <p:cNvPr id="6" name="Text 3"/>
          <p:cNvSpPr txBox="1"/>
          <p:nvPr/>
        </p:nvSpPr>
        <p:spPr>
          <a:xfrm>
            <a:off x="640080" y="1554480"/>
            <a:ext cx="2468880" cy="27432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YouTube and reels</a:t>
            </a:r>
            <a:endParaRPr lang="en-US" sz="1300" dirty="0"/>
          </a:p>
        </p:txBody>
      </p:sp>
      <p:sp>
        <p:nvSpPr>
          <p:cNvPr id="7" name="Text 4"/>
          <p:cNvSpPr txBox="1"/>
          <p:nvPr/>
        </p:nvSpPr>
        <p:spPr>
          <a:xfrm>
            <a:off x="640080" y="1828800"/>
            <a:ext cx="2468880" cy="228600"/>
          </a:xfrm>
          <a:prstGeom prst="rect">
            <a:avLst/>
          </a:prstGeom>
          <a:noFill/>
          <a:ln/>
        </p:spPr>
        <p:txBody>
          <a:bodyPr wrap="square" lIns="0" tIns="0" rIns="0" bIns="0" rtlCol="0" anchor="t"/>
          <a:lstStyle/>
          <a:p>
            <a:pPr indent="0" marL="0">
              <a:buNone/>
            </a:pPr>
            <a:r>
              <a:rPr lang="en-US" sz="1100" dirty="0">
                <a:solidFill>
                  <a:srgbClr val="5B6B7F"/>
                </a:solidFill>
                <a:latin typeface="Calibri" pitchFamily="34" charset="0"/>
                <a:ea typeface="Calibri" pitchFamily="34" charset="-122"/>
                <a:cs typeface="Calibri" pitchFamily="34" charset="-120"/>
              </a:rPr>
              <a:t>Ideas, but no prices</a:t>
            </a:r>
            <a:endParaRPr lang="en-US" sz="1100" dirty="0"/>
          </a:p>
        </p:txBody>
      </p:sp>
      <p:sp>
        <p:nvSpPr>
          <p:cNvPr id="8" name="Shape 5"/>
          <p:cNvSpPr/>
          <p:nvPr/>
        </p:nvSpPr>
        <p:spPr>
          <a:xfrm>
            <a:off x="457200" y="2240280"/>
            <a:ext cx="2743200" cy="658368"/>
          </a:xfrm>
          <a:prstGeom prst="roundRect">
            <a:avLst>
              <a:gd name="adj" fmla="val 11111"/>
            </a:avLst>
          </a:prstGeom>
          <a:solidFill>
            <a:srgbClr val="FFFFFF"/>
          </a:solidFill>
          <a:ln w="9525">
            <a:solidFill>
              <a:srgbClr val="D9E2EA"/>
            </a:solidFill>
            <a:prstDash val="solid"/>
          </a:ln>
        </p:spPr>
      </p:sp>
      <p:sp>
        <p:nvSpPr>
          <p:cNvPr id="9" name="Text 6"/>
          <p:cNvSpPr txBox="1"/>
          <p:nvPr/>
        </p:nvSpPr>
        <p:spPr>
          <a:xfrm>
            <a:off x="640080" y="2331720"/>
            <a:ext cx="2468880" cy="27432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Travel apps</a:t>
            </a:r>
            <a:endParaRPr lang="en-US" sz="1300" dirty="0"/>
          </a:p>
        </p:txBody>
      </p:sp>
      <p:sp>
        <p:nvSpPr>
          <p:cNvPr id="10" name="Text 7"/>
          <p:cNvSpPr txBox="1"/>
          <p:nvPr/>
        </p:nvSpPr>
        <p:spPr>
          <a:xfrm>
            <a:off x="640080" y="2606040"/>
            <a:ext cx="2468880" cy="228600"/>
          </a:xfrm>
          <a:prstGeom prst="rect">
            <a:avLst/>
          </a:prstGeom>
          <a:noFill/>
          <a:ln/>
        </p:spPr>
        <p:txBody>
          <a:bodyPr wrap="square" lIns="0" tIns="0" rIns="0" bIns="0" rtlCol="0" anchor="t"/>
          <a:lstStyle/>
          <a:p>
            <a:pPr indent="0" marL="0">
              <a:buNone/>
            </a:pPr>
            <a:r>
              <a:rPr lang="en-US" sz="1100" dirty="0">
                <a:solidFill>
                  <a:srgbClr val="5B6B7F"/>
                </a:solidFill>
                <a:latin typeface="Calibri" pitchFamily="34" charset="0"/>
                <a:ea typeface="Calibri" pitchFamily="34" charset="-122"/>
                <a:cs typeface="Calibri" pitchFamily="34" charset="-120"/>
              </a:rPr>
              <a:t>One booking at a time</a:t>
            </a:r>
            <a:endParaRPr lang="en-US" sz="1100" dirty="0"/>
          </a:p>
        </p:txBody>
      </p:sp>
      <p:sp>
        <p:nvSpPr>
          <p:cNvPr id="11" name="Shape 8"/>
          <p:cNvSpPr/>
          <p:nvPr/>
        </p:nvSpPr>
        <p:spPr>
          <a:xfrm>
            <a:off x="457200" y="3017520"/>
            <a:ext cx="2743200" cy="658368"/>
          </a:xfrm>
          <a:prstGeom prst="roundRect">
            <a:avLst>
              <a:gd name="adj" fmla="val 11111"/>
            </a:avLst>
          </a:prstGeom>
          <a:solidFill>
            <a:srgbClr val="FFFFFF"/>
          </a:solidFill>
          <a:ln w="9525">
            <a:solidFill>
              <a:srgbClr val="D9E2EA"/>
            </a:solidFill>
            <a:prstDash val="solid"/>
          </a:ln>
        </p:spPr>
      </p:sp>
      <p:sp>
        <p:nvSpPr>
          <p:cNvPr id="12" name="Text 9"/>
          <p:cNvSpPr txBox="1"/>
          <p:nvPr/>
        </p:nvSpPr>
        <p:spPr>
          <a:xfrm>
            <a:off x="640080" y="3108960"/>
            <a:ext cx="2468880" cy="27432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WhatsApp group</a:t>
            </a:r>
            <a:endParaRPr lang="en-US" sz="1300" dirty="0"/>
          </a:p>
        </p:txBody>
      </p:sp>
      <p:sp>
        <p:nvSpPr>
          <p:cNvPr id="13" name="Text 10"/>
          <p:cNvSpPr txBox="1"/>
          <p:nvPr/>
        </p:nvSpPr>
        <p:spPr>
          <a:xfrm>
            <a:off x="640080" y="3383280"/>
            <a:ext cx="2468880" cy="228600"/>
          </a:xfrm>
          <a:prstGeom prst="rect">
            <a:avLst/>
          </a:prstGeom>
          <a:noFill/>
          <a:ln/>
        </p:spPr>
        <p:txBody>
          <a:bodyPr wrap="square" lIns="0" tIns="0" rIns="0" bIns="0" rtlCol="0" anchor="t"/>
          <a:lstStyle/>
          <a:p>
            <a:pPr indent="0" marL="0">
              <a:buNone/>
            </a:pPr>
            <a:r>
              <a:rPr lang="en-US" sz="1100" dirty="0">
                <a:solidFill>
                  <a:srgbClr val="5B6B7F"/>
                </a:solidFill>
                <a:latin typeface="Calibri" pitchFamily="34" charset="0"/>
                <a:ea typeface="Calibri" pitchFamily="34" charset="-122"/>
                <a:cs typeface="Calibri" pitchFamily="34" charset="-120"/>
              </a:rPr>
              <a:t>Opinions, no numbers</a:t>
            </a:r>
            <a:endParaRPr lang="en-US" sz="1100" dirty="0"/>
          </a:p>
        </p:txBody>
      </p:sp>
      <p:sp>
        <p:nvSpPr>
          <p:cNvPr id="14" name="Shape 11"/>
          <p:cNvSpPr/>
          <p:nvPr/>
        </p:nvSpPr>
        <p:spPr>
          <a:xfrm>
            <a:off x="457200" y="3794760"/>
            <a:ext cx="2743200" cy="658368"/>
          </a:xfrm>
          <a:prstGeom prst="roundRect">
            <a:avLst>
              <a:gd name="adj" fmla="val 11111"/>
            </a:avLst>
          </a:prstGeom>
          <a:solidFill>
            <a:srgbClr val="FFFFFF"/>
          </a:solidFill>
          <a:ln w="9525">
            <a:solidFill>
              <a:srgbClr val="D9E2EA"/>
            </a:solidFill>
            <a:prstDash val="solid"/>
          </a:ln>
        </p:spPr>
      </p:sp>
      <p:sp>
        <p:nvSpPr>
          <p:cNvPr id="15" name="Text 12"/>
          <p:cNvSpPr txBox="1"/>
          <p:nvPr/>
        </p:nvSpPr>
        <p:spPr>
          <a:xfrm>
            <a:off x="640080" y="3886200"/>
            <a:ext cx="2468880" cy="27432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Spreadsheets</a:t>
            </a:r>
            <a:endParaRPr lang="en-US" sz="1300" dirty="0"/>
          </a:p>
        </p:txBody>
      </p:sp>
      <p:sp>
        <p:nvSpPr>
          <p:cNvPr id="16" name="Text 13"/>
          <p:cNvSpPr txBox="1"/>
          <p:nvPr/>
        </p:nvSpPr>
        <p:spPr>
          <a:xfrm>
            <a:off x="640080" y="4160520"/>
            <a:ext cx="2468880" cy="228600"/>
          </a:xfrm>
          <a:prstGeom prst="rect">
            <a:avLst/>
          </a:prstGeom>
          <a:noFill/>
          <a:ln/>
        </p:spPr>
        <p:txBody>
          <a:bodyPr wrap="square" lIns="0" tIns="0" rIns="0" bIns="0" rtlCol="0" anchor="t"/>
          <a:lstStyle/>
          <a:p>
            <a:pPr indent="0" marL="0">
              <a:buNone/>
            </a:pPr>
            <a:r>
              <a:rPr lang="en-US" sz="1100" dirty="0">
                <a:solidFill>
                  <a:srgbClr val="5B6B7F"/>
                </a:solidFill>
                <a:latin typeface="Calibri" pitchFamily="34" charset="0"/>
                <a:ea typeface="Calibri" pitchFamily="34" charset="-122"/>
                <a:cs typeface="Calibri" pitchFamily="34" charset="-120"/>
              </a:rPr>
              <a:t>Manual and outdated</a:t>
            </a:r>
            <a:endParaRPr lang="en-US" sz="1100" dirty="0"/>
          </a:p>
        </p:txBody>
      </p:sp>
      <p:sp>
        <p:nvSpPr>
          <p:cNvPr id="17" name="Shape 14"/>
          <p:cNvSpPr/>
          <p:nvPr/>
        </p:nvSpPr>
        <p:spPr>
          <a:xfrm>
            <a:off x="3474720" y="1463040"/>
            <a:ext cx="2743200" cy="3017520"/>
          </a:xfrm>
          <a:prstGeom prst="roundRect">
            <a:avLst>
              <a:gd name="adj" fmla="val 2667"/>
            </a:avLst>
          </a:prstGeom>
          <a:solidFill>
            <a:srgbClr val="14213D"/>
          </a:solidFill>
          <a:ln w="9525">
            <a:solidFill>
              <a:srgbClr val="14213D"/>
            </a:solidFill>
            <a:prstDash val="solid"/>
          </a:ln>
        </p:spPr>
      </p:sp>
      <p:sp>
        <p:nvSpPr>
          <p:cNvPr id="18" name="Text 15"/>
          <p:cNvSpPr txBox="1"/>
          <p:nvPr/>
        </p:nvSpPr>
        <p:spPr>
          <a:xfrm>
            <a:off x="3657600" y="1600200"/>
            <a:ext cx="2377440" cy="274320"/>
          </a:xfrm>
          <a:prstGeom prst="rect">
            <a:avLst/>
          </a:prstGeom>
          <a:noFill/>
          <a:ln/>
        </p:spPr>
        <p:txBody>
          <a:bodyPr wrap="square" lIns="0" tIns="0" rIns="0" bIns="0" rtlCol="0" anchor="t"/>
          <a:lstStyle/>
          <a:p>
            <a:pPr indent="0" marL="0">
              <a:buNone/>
            </a:pPr>
            <a:r>
              <a:rPr lang="en-US" sz="1400" b="1" dirty="0">
                <a:solidFill>
                  <a:srgbClr val="F2A900"/>
                </a:solidFill>
                <a:latin typeface="Calibri" pitchFamily="34" charset="0"/>
                <a:ea typeface="Calibri" pitchFamily="34" charset="-122"/>
                <a:cs typeface="Calibri" pitchFamily="34" charset="-120"/>
              </a:rPr>
              <a:t>A real example</a:t>
            </a:r>
            <a:endParaRPr lang="en-US" sz="1400" dirty="0"/>
          </a:p>
        </p:txBody>
      </p:sp>
      <p:sp>
        <p:nvSpPr>
          <p:cNvPr id="19" name="Text 16"/>
          <p:cNvSpPr txBox="1"/>
          <p:nvPr/>
        </p:nvSpPr>
        <p:spPr>
          <a:xfrm>
            <a:off x="3657600" y="2011680"/>
            <a:ext cx="2377440" cy="22860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Five friends want Goa. One can spend ₹6,000, another ₹15,000. The hotel gets booked first and the budget is checked later. Halfway through, nobody knows who owes what.</a:t>
            </a:r>
            <a:endParaRPr lang="en-US" sz="1400" dirty="0"/>
          </a:p>
        </p:txBody>
      </p:sp>
      <p:sp>
        <p:nvSpPr>
          <p:cNvPr id="20" name="Shape 17"/>
          <p:cNvSpPr/>
          <p:nvPr/>
        </p:nvSpPr>
        <p:spPr>
          <a:xfrm>
            <a:off x="6400800" y="1463040"/>
            <a:ext cx="2286000" cy="3017520"/>
          </a:xfrm>
          <a:prstGeom prst="roundRect">
            <a:avLst>
              <a:gd name="adj" fmla="val 3200"/>
            </a:avLst>
          </a:prstGeom>
          <a:solidFill>
            <a:srgbClr val="FBE3E6"/>
          </a:solidFill>
          <a:ln w="9525">
            <a:solidFill>
              <a:srgbClr val="F2B8C0"/>
            </a:solidFill>
            <a:prstDash val="solid"/>
          </a:ln>
        </p:spPr>
      </p:sp>
      <p:sp>
        <p:nvSpPr>
          <p:cNvPr id="21" name="Text 18"/>
          <p:cNvSpPr txBox="1"/>
          <p:nvPr/>
        </p:nvSpPr>
        <p:spPr>
          <a:xfrm>
            <a:off x="6583680" y="1600200"/>
            <a:ext cx="1920240" cy="274320"/>
          </a:xfrm>
          <a:prstGeom prst="rect">
            <a:avLst/>
          </a:prstGeom>
          <a:noFill/>
          <a:ln/>
        </p:spPr>
        <p:txBody>
          <a:bodyPr wrap="square" lIns="0" tIns="0" rIns="0" bIns="0" rtlCol="0" anchor="t"/>
          <a:lstStyle/>
          <a:p>
            <a:pPr indent="0" marL="0">
              <a:buNone/>
            </a:pPr>
            <a:r>
              <a:rPr lang="en-US" sz="1400" b="1" dirty="0">
                <a:solidFill>
                  <a:srgbClr val="D1495B"/>
                </a:solidFill>
                <a:latin typeface="Calibri" pitchFamily="34" charset="0"/>
                <a:ea typeface="Calibri" pitchFamily="34" charset="-122"/>
                <a:cs typeface="Calibri" pitchFamily="34" charset="-120"/>
              </a:rPr>
              <a:t>The result</a:t>
            </a:r>
            <a:endParaRPr lang="en-US" sz="1400" dirty="0"/>
          </a:p>
        </p:txBody>
      </p:sp>
      <p:sp>
        <p:nvSpPr>
          <p:cNvPr id="22" name="Text 19"/>
          <p:cNvSpPr txBox="1"/>
          <p:nvPr/>
        </p:nvSpPr>
        <p:spPr>
          <a:xfrm>
            <a:off x="6583680" y="2011680"/>
            <a:ext cx="1920240" cy="1371600"/>
          </a:xfrm>
          <a:prstGeom prst="rect">
            <a:avLst/>
          </a:prstGeom>
          <a:noFill/>
          <a:ln/>
        </p:spPr>
        <p:txBody>
          <a:bodyPr wrap="square" lIns="0" tIns="0" rIns="0" bIns="0" rtlCol="0" anchor="t"/>
          <a:lstStyle/>
          <a:p>
            <a:pPr indent="0" marL="0">
              <a:buNone/>
            </a:pPr>
            <a:r>
              <a:rPr lang="en-US" sz="1400" dirty="0">
                <a:solidFill>
                  <a:srgbClr val="14213D"/>
                </a:solidFill>
                <a:latin typeface="Calibri" pitchFamily="34" charset="0"/>
                <a:ea typeface="Calibri" pitchFamily="34" charset="-122"/>
                <a:cs typeface="Calibri" pitchFamily="34" charset="-120"/>
              </a:rPr>
              <a:t>Over budget trips, cancelled plans and fights about money.</a:t>
            </a:r>
            <a:endParaRPr lang="en-US" sz="1400" dirty="0"/>
          </a:p>
        </p:txBody>
      </p:sp>
      <p:sp>
        <p:nvSpPr>
          <p:cNvPr id="23" name="Text 20"/>
          <p:cNvSpPr txBox="1"/>
          <p:nvPr/>
        </p:nvSpPr>
        <p:spPr>
          <a:xfrm>
            <a:off x="457200" y="4572000"/>
            <a:ext cx="7680960" cy="274320"/>
          </a:xfrm>
          <a:prstGeom prst="rect">
            <a:avLst/>
          </a:prstGeom>
          <a:noFill/>
          <a:ln/>
        </p:spPr>
        <p:txBody>
          <a:bodyPr wrap="square" lIns="0" tIns="0" rIns="0" bIns="0" rtlCol="0" anchor="t"/>
          <a:lstStyle/>
          <a:p>
            <a:pPr indent="0" marL="0">
              <a:buNone/>
            </a:pPr>
            <a:r>
              <a:rPr lang="en-US" sz="1200" i="1" dirty="0">
                <a:solidFill>
                  <a:srgbClr val="5B6B7F"/>
                </a:solidFill>
                <a:latin typeface="Calibri" pitchFamily="34" charset="0"/>
                <a:ea typeface="Calibri" pitchFamily="34" charset="-122"/>
                <a:cs typeface="Calibri" pitchFamily="34" charset="-120"/>
              </a:rPr>
              <a:t>One group, five tools, and no single answer to: can we afford this?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Existing planners start with the place, not the money</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737360"/>
                <a:gridCol w="3108960"/>
                <a:gridCol w="3383280"/>
              </a:tblGrid>
              <a:tr h="475488">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Existing trip planners</a:t>
                      </a:r>
                      <a:endParaRPr lang="en-US" sz="13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TripSaathi</a:t>
                      </a:r>
                      <a:endParaRPr lang="en-US" sz="13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14213D"/>
                    </a:solidFill>
                  </a:tcPr>
                </a:tc>
              </a:tr>
              <a:tr h="475488">
                <a:tc>
                  <a:txBody>
                    <a:bodyPr/>
                    <a:lstStyle/>
                    <a:p>
                      <a:pPr indent="0" marL="0">
                        <a:buNone/>
                      </a:pPr>
                      <a:r>
                        <a:rPr lang="en-US" sz="1300" b="1" dirty="0">
                          <a:solidFill>
                            <a:srgbClr val="14213D"/>
                          </a:solidFill>
                          <a:latin typeface="Calibri" pitchFamily="34" charset="0"/>
                          <a:ea typeface="Calibri" pitchFamily="34" charset="-122"/>
                          <a:cs typeface="Calibri" pitchFamily="34" charset="-120"/>
                        </a:rPr>
                        <a:t>Starting point</a:t>
                      </a:r>
                      <a:endParaRPr lang="en-US" sz="13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Pick a place first, check cost later</a:t>
                      </a:r>
                      <a:endParaRPr lang="en-US" sz="13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300" b="1" dirty="0">
                          <a:solidFill>
                            <a:srgbClr val="0A5E66"/>
                          </a:solidFill>
                          <a:latin typeface="Calibri" pitchFamily="34" charset="0"/>
                          <a:ea typeface="Calibri" pitchFamily="34" charset="-122"/>
                          <a:cs typeface="Calibri" pitchFamily="34" charset="-120"/>
                        </a:rPr>
                        <a:t>Start from budget, people and days</a:t>
                      </a:r>
                      <a:endParaRPr lang="en-US" sz="13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DFF1F0"/>
                    </a:solidFill>
                  </a:tcPr>
                </a:tc>
              </a:tr>
              <a:tr h="475488">
                <a:tc>
                  <a:txBody>
                    <a:bodyPr/>
                    <a:lstStyle/>
                    <a:p>
                      <a:pPr indent="0" marL="0">
                        <a:buNone/>
                      </a:pPr>
                      <a:r>
                        <a:rPr lang="en-US" sz="1300" b="1" dirty="0">
                          <a:solidFill>
                            <a:srgbClr val="14213D"/>
                          </a:solidFill>
                          <a:latin typeface="Calibri" pitchFamily="34" charset="0"/>
                          <a:ea typeface="Calibri" pitchFamily="34" charset="-122"/>
                          <a:cs typeface="Calibri" pitchFamily="34" charset="-120"/>
                        </a:rPr>
                        <a:t>Cost split</a:t>
                      </a:r>
                      <a:endParaRPr lang="en-US" sz="13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Total price only</a:t>
                      </a:r>
                      <a:endParaRPr lang="en-US" sz="13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300" b="1" dirty="0">
                          <a:solidFill>
                            <a:srgbClr val="0A5E66"/>
                          </a:solidFill>
                          <a:latin typeface="Calibri" pitchFamily="34" charset="0"/>
                          <a:ea typeface="Calibri" pitchFamily="34" charset="-122"/>
                          <a:cs typeface="Calibri" pitchFamily="34" charset="-120"/>
                        </a:rPr>
                        <a:t>Per category and per person</a:t>
                      </a:r>
                      <a:endParaRPr lang="en-US" sz="13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DFF1F0"/>
                    </a:solidFill>
                  </a:tcPr>
                </a:tc>
              </a:tr>
              <a:tr h="475488">
                <a:tc>
                  <a:txBody>
                    <a:bodyPr/>
                    <a:lstStyle/>
                    <a:p>
                      <a:pPr indent="0" marL="0">
                        <a:buNone/>
                      </a:pPr>
                      <a:r>
                        <a:rPr lang="en-US" sz="1300" b="1" dirty="0">
                          <a:solidFill>
                            <a:srgbClr val="14213D"/>
                          </a:solidFill>
                          <a:latin typeface="Calibri" pitchFamily="34" charset="0"/>
                          <a:ea typeface="Calibri" pitchFamily="34" charset="-122"/>
                          <a:cs typeface="Calibri" pitchFamily="34" charset="-120"/>
                        </a:rPr>
                        <a:t>Group size</a:t>
                      </a:r>
                      <a:endParaRPr lang="en-US" sz="13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Same plan for 1 or 10 people</a:t>
                      </a:r>
                      <a:endParaRPr lang="en-US" sz="13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300" b="1" dirty="0">
                          <a:solidFill>
                            <a:srgbClr val="0A5E66"/>
                          </a:solidFill>
                          <a:latin typeface="Calibri" pitchFamily="34" charset="0"/>
                          <a:ea typeface="Calibri" pitchFamily="34" charset="-122"/>
                          <a:cs typeface="Calibri" pitchFamily="34" charset="-120"/>
                        </a:rPr>
                        <a:t>Rooms and cabs scale with the group</a:t>
                      </a:r>
                      <a:endParaRPr lang="en-US" sz="13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DFF1F0"/>
                    </a:solidFill>
                  </a:tcPr>
                </a:tc>
              </a:tr>
              <a:tr h="475488">
                <a:tc>
                  <a:txBody>
                    <a:bodyPr/>
                    <a:lstStyle/>
                    <a:p>
                      <a:pPr indent="0" marL="0">
                        <a:buNone/>
                      </a:pPr>
                      <a:r>
                        <a:rPr lang="en-US" sz="1300" b="1" dirty="0">
                          <a:solidFill>
                            <a:srgbClr val="14213D"/>
                          </a:solidFill>
                          <a:latin typeface="Calibri" pitchFamily="34" charset="0"/>
                          <a:ea typeface="Calibri" pitchFamily="34" charset="-122"/>
                          <a:cs typeface="Calibri" pitchFamily="34" charset="-120"/>
                        </a:rPr>
                        <a:t>Over budget</a:t>
                      </a:r>
                      <a:endParaRPr lang="en-US" sz="13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No help, you find out later</a:t>
                      </a:r>
                      <a:endParaRPr lang="en-US" sz="13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300" b="1" dirty="0">
                          <a:solidFill>
                            <a:srgbClr val="0A5E66"/>
                          </a:solidFill>
                          <a:latin typeface="Calibri" pitchFamily="34" charset="0"/>
                          <a:ea typeface="Calibri" pitchFamily="34" charset="-122"/>
                          <a:cs typeface="Calibri" pitchFamily="34" charset="-120"/>
                        </a:rPr>
                        <a:t>Shows the shortfall and how to fix it</a:t>
                      </a:r>
                      <a:endParaRPr lang="en-US" sz="13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DFF1F0"/>
                    </a:solidFill>
                  </a:tcPr>
                </a:tc>
              </a:tr>
              <a:tr h="475488">
                <a:tc>
                  <a:txBody>
                    <a:bodyPr/>
                    <a:lstStyle/>
                    <a:p>
                      <a:pPr indent="0" marL="0">
                        <a:buNone/>
                      </a:pPr>
                      <a:r>
                        <a:rPr lang="en-US" sz="1300" b="1" dirty="0">
                          <a:solidFill>
                            <a:srgbClr val="14213D"/>
                          </a:solidFill>
                          <a:latin typeface="Calibri" pitchFamily="34" charset="0"/>
                          <a:ea typeface="Calibri" pitchFamily="34" charset="-122"/>
                          <a:cs typeface="Calibri" pitchFamily="34" charset="-120"/>
                        </a:rPr>
                        <a:t>Destination</a:t>
                      </a:r>
                      <a:endParaRPr lang="en-US" sz="13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You must already know where to go</a:t>
                      </a:r>
                      <a:endParaRPr lang="en-US" sz="13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indent="0" marL="0">
                        <a:buNone/>
                      </a:pPr>
                      <a:r>
                        <a:rPr lang="en-US" sz="1300" b="1" dirty="0">
                          <a:solidFill>
                            <a:srgbClr val="0A5E66"/>
                          </a:solidFill>
                          <a:latin typeface="Calibri" pitchFamily="34" charset="0"/>
                          <a:ea typeface="Calibri" pitchFamily="34" charset="-122"/>
                          <a:cs typeface="Calibri" pitchFamily="34" charset="-120"/>
                        </a:rPr>
                        <a:t>Suggests the best fit for your money</a:t>
                      </a:r>
                      <a:endParaRPr lang="en-US" sz="13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DFF1F0"/>
                    </a:solidFill>
                  </a:tcPr>
                </a:tc>
              </a:tr>
            </a:tbl>
          </a:graphicData>
        </a:graphic>
      </p:graphicFrame>
      <p:sp>
        <p:nvSpPr>
          <p:cNvPr id="5" name="Text 1"/>
          <p:cNvSpPr txBox="1"/>
          <p:nvPr/>
        </p:nvSpPr>
        <p:spPr>
          <a:xfrm>
            <a:off x="457200" y="4206240"/>
            <a:ext cx="7680960" cy="365760"/>
          </a:xfrm>
          <a:prstGeom prst="rect">
            <a:avLst/>
          </a:prstGeom>
          <a:noFill/>
          <a:ln/>
        </p:spPr>
        <p:txBody>
          <a:bodyPr wrap="square" lIns="0" tIns="0" rIns="0" bIns="0" rtlCol="0" anchor="t"/>
          <a:lstStyle/>
          <a:p>
            <a:pPr indent="0" marL="0">
              <a:buNone/>
            </a:pPr>
            <a:r>
              <a:rPr lang="en-US" sz="1500" b="1" dirty="0">
                <a:solidFill>
                  <a:srgbClr val="0E7C86"/>
                </a:solidFill>
                <a:latin typeface="Calibri" pitchFamily="34" charset="0"/>
                <a:ea typeface="Calibri" pitchFamily="34" charset="-122"/>
                <a:cs typeface="Calibri" pitchFamily="34" charset="-120"/>
              </a:rPr>
              <a:t>The gap: you should not have to guess if a trip is affordable.</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A planner that starts with your money</a:t>
            </a:r>
            <a:endParaRPr lang="en-US" sz="2600" dirty="0"/>
          </a:p>
        </p:txBody>
      </p:sp>
      <p:sp>
        <p:nvSpPr>
          <p:cNvPr id="4" name="Shape 1"/>
          <p:cNvSpPr/>
          <p:nvPr/>
        </p:nvSpPr>
        <p:spPr>
          <a:xfrm>
            <a:off x="457200" y="1554480"/>
            <a:ext cx="1554480" cy="2286000"/>
          </a:xfrm>
          <a:prstGeom prst="roundRect">
            <a:avLst>
              <a:gd name="adj" fmla="val 4706"/>
            </a:avLst>
          </a:prstGeom>
          <a:solidFill>
            <a:srgbClr val="FFFFFF"/>
          </a:solidFill>
          <a:ln w="9525">
            <a:solidFill>
              <a:srgbClr val="D9E2EA"/>
            </a:solidFill>
            <a:prstDash val="solid"/>
          </a:ln>
        </p:spPr>
      </p:sp>
      <p:sp>
        <p:nvSpPr>
          <p:cNvPr id="5" name="Shape 2"/>
          <p:cNvSpPr/>
          <p:nvPr/>
        </p:nvSpPr>
        <p:spPr>
          <a:xfrm>
            <a:off x="1005840" y="1325880"/>
            <a:ext cx="457200" cy="457200"/>
          </a:xfrm>
          <a:prstGeom prst="ellipse">
            <a:avLst/>
          </a:prstGeom>
          <a:solidFill>
            <a:srgbClr val="0E7C86"/>
          </a:solidFill>
          <a:ln w="25400">
            <a:solidFill>
              <a:srgbClr val="F3F7FA"/>
            </a:solidFill>
            <a:prstDash val="solid"/>
          </a:ln>
        </p:spPr>
      </p:sp>
      <p:sp>
        <p:nvSpPr>
          <p:cNvPr id="6" name="Text 3"/>
          <p:cNvSpPr txBox="1"/>
          <p:nvPr/>
        </p:nvSpPr>
        <p:spPr>
          <a:xfrm>
            <a:off x="1005840" y="1325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566928" y="1965960"/>
            <a:ext cx="1335024" cy="320040"/>
          </a:xfrm>
          <a:prstGeom prst="rect">
            <a:avLst/>
          </a:prstGeom>
          <a:noFill/>
          <a:ln/>
        </p:spPr>
        <p:txBody>
          <a:bodyPr wrap="square" lIns="0" tIns="0" rIns="0" bIns="0" rtlCol="0" anchor="t"/>
          <a:lstStyle/>
          <a:p>
            <a:pPr algn="ctr" indent="0" marL="0">
              <a:buNone/>
            </a:pPr>
            <a:r>
              <a:rPr lang="en-US" sz="1600" b="1" dirty="0">
                <a:solidFill>
                  <a:srgbClr val="14213D"/>
                </a:solidFill>
                <a:latin typeface="Cambria" pitchFamily="34" charset="0"/>
                <a:ea typeface="Cambria" pitchFamily="34" charset="-122"/>
                <a:cs typeface="Cambria" pitchFamily="34" charset="-120"/>
              </a:rPr>
              <a:t>Enter</a:t>
            </a:r>
            <a:endParaRPr lang="en-US" sz="1600" dirty="0"/>
          </a:p>
        </p:txBody>
      </p:sp>
      <p:sp>
        <p:nvSpPr>
          <p:cNvPr id="8" name="Text 5"/>
          <p:cNvSpPr txBox="1"/>
          <p:nvPr/>
        </p:nvSpPr>
        <p:spPr>
          <a:xfrm>
            <a:off x="566928" y="2377440"/>
            <a:ext cx="1335024" cy="1371600"/>
          </a:xfrm>
          <a:prstGeom prst="rect">
            <a:avLst/>
          </a:prstGeom>
          <a:noFill/>
          <a:ln/>
        </p:spPr>
        <p:txBody>
          <a:bodyPr wrap="square" lIns="0" tIns="0" rIns="0" bIns="0" rtlCol="0" anchor="t"/>
          <a:lstStyle/>
          <a:p>
            <a:pPr algn="ctr" indent="0" marL="0">
              <a:buNone/>
            </a:pPr>
            <a:r>
              <a:rPr lang="en-US" sz="1200" dirty="0">
                <a:solidFill>
                  <a:srgbClr val="5B6B7F"/>
                </a:solidFill>
                <a:latin typeface="Calibri" pitchFamily="34" charset="0"/>
                <a:ea typeface="Calibri" pitchFamily="34" charset="-122"/>
                <a:cs typeface="Calibri" pitchFamily="34" charset="-120"/>
              </a:rPr>
              <a:t>Budget, people and days</a:t>
            </a:r>
            <a:endParaRPr lang="en-US" sz="1200" dirty="0"/>
          </a:p>
        </p:txBody>
      </p:sp>
      <p:sp>
        <p:nvSpPr>
          <p:cNvPr id="9" name="Shape 6"/>
          <p:cNvSpPr/>
          <p:nvPr/>
        </p:nvSpPr>
        <p:spPr>
          <a:xfrm>
            <a:off x="2121408" y="1554480"/>
            <a:ext cx="1554480" cy="2286000"/>
          </a:xfrm>
          <a:prstGeom prst="roundRect">
            <a:avLst>
              <a:gd name="adj" fmla="val 4706"/>
            </a:avLst>
          </a:prstGeom>
          <a:solidFill>
            <a:srgbClr val="FFFFFF"/>
          </a:solidFill>
          <a:ln w="9525">
            <a:solidFill>
              <a:srgbClr val="D9E2EA"/>
            </a:solidFill>
            <a:prstDash val="solid"/>
          </a:ln>
        </p:spPr>
      </p:sp>
      <p:sp>
        <p:nvSpPr>
          <p:cNvPr id="10" name="Shape 7"/>
          <p:cNvSpPr/>
          <p:nvPr/>
        </p:nvSpPr>
        <p:spPr>
          <a:xfrm>
            <a:off x="2670048" y="1325880"/>
            <a:ext cx="457200" cy="457200"/>
          </a:xfrm>
          <a:prstGeom prst="ellipse">
            <a:avLst/>
          </a:prstGeom>
          <a:solidFill>
            <a:srgbClr val="0E7C86"/>
          </a:solidFill>
          <a:ln w="25400">
            <a:solidFill>
              <a:srgbClr val="F3F7FA"/>
            </a:solidFill>
            <a:prstDash val="solid"/>
          </a:ln>
        </p:spPr>
      </p:sp>
      <p:sp>
        <p:nvSpPr>
          <p:cNvPr id="11" name="Text 8"/>
          <p:cNvSpPr txBox="1"/>
          <p:nvPr/>
        </p:nvSpPr>
        <p:spPr>
          <a:xfrm>
            <a:off x="2670048" y="1325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9"/>
          <p:cNvSpPr txBox="1"/>
          <p:nvPr/>
        </p:nvSpPr>
        <p:spPr>
          <a:xfrm>
            <a:off x="2231136" y="1965960"/>
            <a:ext cx="1335024" cy="320040"/>
          </a:xfrm>
          <a:prstGeom prst="rect">
            <a:avLst/>
          </a:prstGeom>
          <a:noFill/>
          <a:ln/>
        </p:spPr>
        <p:txBody>
          <a:bodyPr wrap="square" lIns="0" tIns="0" rIns="0" bIns="0" rtlCol="0" anchor="t"/>
          <a:lstStyle/>
          <a:p>
            <a:pPr algn="ctr" indent="0" marL="0">
              <a:buNone/>
            </a:pPr>
            <a:r>
              <a:rPr lang="en-US" sz="1600" b="1" dirty="0">
                <a:solidFill>
                  <a:srgbClr val="14213D"/>
                </a:solidFill>
                <a:latin typeface="Cambria" pitchFamily="34" charset="0"/>
                <a:ea typeface="Cambria" pitchFamily="34" charset="-122"/>
                <a:cs typeface="Cambria" pitchFamily="34" charset="-120"/>
              </a:rPr>
              <a:t>Estimate</a:t>
            </a:r>
            <a:endParaRPr lang="en-US" sz="1600" dirty="0"/>
          </a:p>
        </p:txBody>
      </p:sp>
      <p:sp>
        <p:nvSpPr>
          <p:cNvPr id="13" name="Text 10"/>
          <p:cNvSpPr txBox="1"/>
          <p:nvPr/>
        </p:nvSpPr>
        <p:spPr>
          <a:xfrm>
            <a:off x="2231136" y="2377440"/>
            <a:ext cx="1335024" cy="1371600"/>
          </a:xfrm>
          <a:prstGeom prst="rect">
            <a:avLst/>
          </a:prstGeom>
          <a:noFill/>
          <a:ln/>
        </p:spPr>
        <p:txBody>
          <a:bodyPr wrap="square" lIns="0" tIns="0" rIns="0" bIns="0" rtlCol="0" anchor="t"/>
          <a:lstStyle/>
          <a:p>
            <a:pPr algn="ctr" indent="0" marL="0">
              <a:buNone/>
            </a:pPr>
            <a:r>
              <a:rPr lang="en-US" sz="1200" dirty="0">
                <a:solidFill>
                  <a:srgbClr val="5B6B7F"/>
                </a:solidFill>
                <a:latin typeface="Calibri" pitchFamily="34" charset="0"/>
                <a:ea typeface="Calibri" pitchFamily="34" charset="-122"/>
                <a:cs typeface="Calibri" pitchFamily="34" charset="-120"/>
              </a:rPr>
              <a:t>Costs for 10 places at 3 comfort levels</a:t>
            </a:r>
            <a:endParaRPr lang="en-US" sz="1200" dirty="0"/>
          </a:p>
        </p:txBody>
      </p:sp>
      <p:sp>
        <p:nvSpPr>
          <p:cNvPr id="14" name="Shape 11"/>
          <p:cNvSpPr/>
          <p:nvPr/>
        </p:nvSpPr>
        <p:spPr>
          <a:xfrm>
            <a:off x="3785616" y="1554480"/>
            <a:ext cx="1554480" cy="2286000"/>
          </a:xfrm>
          <a:prstGeom prst="roundRect">
            <a:avLst>
              <a:gd name="adj" fmla="val 4706"/>
            </a:avLst>
          </a:prstGeom>
          <a:solidFill>
            <a:srgbClr val="FFFFFF"/>
          </a:solidFill>
          <a:ln w="9525">
            <a:solidFill>
              <a:srgbClr val="D9E2EA"/>
            </a:solidFill>
            <a:prstDash val="solid"/>
          </a:ln>
        </p:spPr>
      </p:sp>
      <p:sp>
        <p:nvSpPr>
          <p:cNvPr id="15" name="Shape 12"/>
          <p:cNvSpPr/>
          <p:nvPr/>
        </p:nvSpPr>
        <p:spPr>
          <a:xfrm>
            <a:off x="4334256" y="1325880"/>
            <a:ext cx="457200" cy="457200"/>
          </a:xfrm>
          <a:prstGeom prst="ellipse">
            <a:avLst/>
          </a:prstGeom>
          <a:solidFill>
            <a:srgbClr val="0E7C86"/>
          </a:solidFill>
          <a:ln w="25400">
            <a:solidFill>
              <a:srgbClr val="F3F7FA"/>
            </a:solidFill>
            <a:prstDash val="solid"/>
          </a:ln>
        </p:spPr>
      </p:sp>
      <p:sp>
        <p:nvSpPr>
          <p:cNvPr id="16" name="Text 13"/>
          <p:cNvSpPr txBox="1"/>
          <p:nvPr/>
        </p:nvSpPr>
        <p:spPr>
          <a:xfrm>
            <a:off x="4334256" y="1325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4"/>
          <p:cNvSpPr txBox="1"/>
          <p:nvPr/>
        </p:nvSpPr>
        <p:spPr>
          <a:xfrm>
            <a:off x="3895344" y="1965960"/>
            <a:ext cx="1335024" cy="320040"/>
          </a:xfrm>
          <a:prstGeom prst="rect">
            <a:avLst/>
          </a:prstGeom>
          <a:noFill/>
          <a:ln/>
        </p:spPr>
        <p:txBody>
          <a:bodyPr wrap="square" lIns="0" tIns="0" rIns="0" bIns="0" rtlCol="0" anchor="t"/>
          <a:lstStyle/>
          <a:p>
            <a:pPr algn="ctr" indent="0" marL="0">
              <a:buNone/>
            </a:pPr>
            <a:r>
              <a:rPr lang="en-US" sz="1600" b="1" dirty="0">
                <a:solidFill>
                  <a:srgbClr val="14213D"/>
                </a:solidFill>
                <a:latin typeface="Cambria" pitchFamily="34" charset="0"/>
                <a:ea typeface="Cambria" pitchFamily="34" charset="-122"/>
                <a:cs typeface="Cambria" pitchFamily="34" charset="-120"/>
              </a:rPr>
              <a:t>Fit</a:t>
            </a:r>
            <a:endParaRPr lang="en-US" sz="1600" dirty="0"/>
          </a:p>
        </p:txBody>
      </p:sp>
      <p:sp>
        <p:nvSpPr>
          <p:cNvPr id="18" name="Text 15"/>
          <p:cNvSpPr txBox="1"/>
          <p:nvPr/>
        </p:nvSpPr>
        <p:spPr>
          <a:xfrm>
            <a:off x="3895344" y="2377440"/>
            <a:ext cx="1335024" cy="1371600"/>
          </a:xfrm>
          <a:prstGeom prst="rect">
            <a:avLst/>
          </a:prstGeom>
          <a:noFill/>
          <a:ln/>
        </p:spPr>
        <p:txBody>
          <a:bodyPr wrap="square" lIns="0" tIns="0" rIns="0" bIns="0" rtlCol="0" anchor="t"/>
          <a:lstStyle/>
          <a:p>
            <a:pPr algn="ctr" indent="0" marL="0">
              <a:buNone/>
            </a:pPr>
            <a:r>
              <a:rPr lang="en-US" sz="1200" dirty="0">
                <a:solidFill>
                  <a:srgbClr val="5B6B7F"/>
                </a:solidFill>
                <a:latin typeface="Calibri" pitchFamily="34" charset="0"/>
                <a:ea typeface="Calibri" pitchFamily="34" charset="-122"/>
                <a:cs typeface="Calibri" pitchFamily="34" charset="-120"/>
              </a:rPr>
              <a:t>Picks the best place and level that fits</a:t>
            </a:r>
            <a:endParaRPr lang="en-US" sz="1200" dirty="0"/>
          </a:p>
        </p:txBody>
      </p:sp>
      <p:sp>
        <p:nvSpPr>
          <p:cNvPr id="19" name="Shape 16"/>
          <p:cNvSpPr/>
          <p:nvPr/>
        </p:nvSpPr>
        <p:spPr>
          <a:xfrm>
            <a:off x="5449824" y="1554480"/>
            <a:ext cx="1554480" cy="2286000"/>
          </a:xfrm>
          <a:prstGeom prst="roundRect">
            <a:avLst>
              <a:gd name="adj" fmla="val 4706"/>
            </a:avLst>
          </a:prstGeom>
          <a:solidFill>
            <a:srgbClr val="FFFFFF"/>
          </a:solidFill>
          <a:ln w="9525">
            <a:solidFill>
              <a:srgbClr val="D9E2EA"/>
            </a:solidFill>
            <a:prstDash val="solid"/>
          </a:ln>
        </p:spPr>
      </p:sp>
      <p:sp>
        <p:nvSpPr>
          <p:cNvPr id="20" name="Shape 17"/>
          <p:cNvSpPr/>
          <p:nvPr/>
        </p:nvSpPr>
        <p:spPr>
          <a:xfrm>
            <a:off x="5998464" y="1325880"/>
            <a:ext cx="457200" cy="457200"/>
          </a:xfrm>
          <a:prstGeom prst="ellipse">
            <a:avLst/>
          </a:prstGeom>
          <a:solidFill>
            <a:srgbClr val="0E7C86"/>
          </a:solidFill>
          <a:ln w="25400">
            <a:solidFill>
              <a:srgbClr val="F3F7FA"/>
            </a:solidFill>
            <a:prstDash val="solid"/>
          </a:ln>
        </p:spPr>
      </p:sp>
      <p:sp>
        <p:nvSpPr>
          <p:cNvPr id="21" name="Text 18"/>
          <p:cNvSpPr txBox="1"/>
          <p:nvPr/>
        </p:nvSpPr>
        <p:spPr>
          <a:xfrm>
            <a:off x="5998464" y="1325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19"/>
          <p:cNvSpPr txBox="1"/>
          <p:nvPr/>
        </p:nvSpPr>
        <p:spPr>
          <a:xfrm>
            <a:off x="5559552" y="1965960"/>
            <a:ext cx="1335024" cy="320040"/>
          </a:xfrm>
          <a:prstGeom prst="rect">
            <a:avLst/>
          </a:prstGeom>
          <a:noFill/>
          <a:ln/>
        </p:spPr>
        <p:txBody>
          <a:bodyPr wrap="square" lIns="0" tIns="0" rIns="0" bIns="0" rtlCol="0" anchor="t"/>
          <a:lstStyle/>
          <a:p>
            <a:pPr algn="ctr" indent="0" marL="0">
              <a:buNone/>
            </a:pPr>
            <a:r>
              <a:rPr lang="en-US" sz="1600" b="1" dirty="0">
                <a:solidFill>
                  <a:srgbClr val="14213D"/>
                </a:solidFill>
                <a:latin typeface="Cambria" pitchFamily="34" charset="0"/>
                <a:ea typeface="Cambria" pitchFamily="34" charset="-122"/>
                <a:cs typeface="Cambria" pitchFamily="34" charset="-120"/>
              </a:rPr>
              <a:t>Split</a:t>
            </a:r>
            <a:endParaRPr lang="en-US" sz="1600" dirty="0"/>
          </a:p>
        </p:txBody>
      </p:sp>
      <p:sp>
        <p:nvSpPr>
          <p:cNvPr id="23" name="Text 20"/>
          <p:cNvSpPr txBox="1"/>
          <p:nvPr/>
        </p:nvSpPr>
        <p:spPr>
          <a:xfrm>
            <a:off x="5559552" y="2377440"/>
            <a:ext cx="1335024" cy="1371600"/>
          </a:xfrm>
          <a:prstGeom prst="rect">
            <a:avLst/>
          </a:prstGeom>
          <a:noFill/>
          <a:ln/>
        </p:spPr>
        <p:txBody>
          <a:bodyPr wrap="square" lIns="0" tIns="0" rIns="0" bIns="0" rtlCol="0" anchor="t"/>
          <a:lstStyle/>
          <a:p>
            <a:pPr algn="ctr" indent="0" marL="0">
              <a:buNone/>
            </a:pPr>
            <a:r>
              <a:rPr lang="en-US" sz="1200" dirty="0">
                <a:solidFill>
                  <a:srgbClr val="5B6B7F"/>
                </a:solidFill>
                <a:latin typeface="Calibri" pitchFamily="34" charset="0"/>
                <a:ea typeface="Calibri" pitchFamily="34" charset="-122"/>
                <a:cs typeface="Calibri" pitchFamily="34" charset="-120"/>
              </a:rPr>
              <a:t>Travel, stay, food, activities and local, per person</a:t>
            </a:r>
            <a:endParaRPr lang="en-US" sz="1200" dirty="0"/>
          </a:p>
        </p:txBody>
      </p:sp>
      <p:sp>
        <p:nvSpPr>
          <p:cNvPr id="24" name="Shape 21"/>
          <p:cNvSpPr/>
          <p:nvPr/>
        </p:nvSpPr>
        <p:spPr>
          <a:xfrm>
            <a:off x="7114032" y="1554480"/>
            <a:ext cx="1554480" cy="2286000"/>
          </a:xfrm>
          <a:prstGeom prst="roundRect">
            <a:avLst>
              <a:gd name="adj" fmla="val 4706"/>
            </a:avLst>
          </a:prstGeom>
          <a:solidFill>
            <a:srgbClr val="FFFFFF"/>
          </a:solidFill>
          <a:ln w="9525">
            <a:solidFill>
              <a:srgbClr val="D9E2EA"/>
            </a:solidFill>
            <a:prstDash val="solid"/>
          </a:ln>
        </p:spPr>
      </p:sp>
      <p:sp>
        <p:nvSpPr>
          <p:cNvPr id="25" name="Shape 22"/>
          <p:cNvSpPr/>
          <p:nvPr/>
        </p:nvSpPr>
        <p:spPr>
          <a:xfrm>
            <a:off x="7662672" y="1325880"/>
            <a:ext cx="457200" cy="457200"/>
          </a:xfrm>
          <a:prstGeom prst="ellipse">
            <a:avLst/>
          </a:prstGeom>
          <a:solidFill>
            <a:srgbClr val="0E7C86"/>
          </a:solidFill>
          <a:ln w="25400">
            <a:solidFill>
              <a:srgbClr val="F3F7FA"/>
            </a:solidFill>
            <a:prstDash val="solid"/>
          </a:ln>
        </p:spPr>
      </p:sp>
      <p:sp>
        <p:nvSpPr>
          <p:cNvPr id="26" name="Text 23"/>
          <p:cNvSpPr txBox="1"/>
          <p:nvPr/>
        </p:nvSpPr>
        <p:spPr>
          <a:xfrm>
            <a:off x="7662672" y="1325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7" name="Text 24"/>
          <p:cNvSpPr txBox="1"/>
          <p:nvPr/>
        </p:nvSpPr>
        <p:spPr>
          <a:xfrm>
            <a:off x="7223760" y="1965960"/>
            <a:ext cx="1335024" cy="320040"/>
          </a:xfrm>
          <a:prstGeom prst="rect">
            <a:avLst/>
          </a:prstGeom>
          <a:noFill/>
          <a:ln/>
        </p:spPr>
        <p:txBody>
          <a:bodyPr wrap="square" lIns="0" tIns="0" rIns="0" bIns="0" rtlCol="0" anchor="t"/>
          <a:lstStyle/>
          <a:p>
            <a:pPr algn="ctr" indent="0" marL="0">
              <a:buNone/>
            </a:pPr>
            <a:r>
              <a:rPr lang="en-US" sz="1600" b="1" dirty="0">
                <a:solidFill>
                  <a:srgbClr val="14213D"/>
                </a:solidFill>
                <a:latin typeface="Cambria" pitchFamily="34" charset="0"/>
                <a:ea typeface="Cambria" pitchFamily="34" charset="-122"/>
                <a:cs typeface="Cambria" pitchFamily="34" charset="-120"/>
              </a:rPr>
              <a:t>Plan</a:t>
            </a:r>
            <a:endParaRPr lang="en-US" sz="1600" dirty="0"/>
          </a:p>
        </p:txBody>
      </p:sp>
      <p:sp>
        <p:nvSpPr>
          <p:cNvPr id="28" name="Text 25"/>
          <p:cNvSpPr txBox="1"/>
          <p:nvPr/>
        </p:nvSpPr>
        <p:spPr>
          <a:xfrm>
            <a:off x="7223760" y="2377440"/>
            <a:ext cx="1335024" cy="1371600"/>
          </a:xfrm>
          <a:prstGeom prst="rect">
            <a:avLst/>
          </a:prstGeom>
          <a:noFill/>
          <a:ln/>
        </p:spPr>
        <p:txBody>
          <a:bodyPr wrap="square" lIns="0" tIns="0" rIns="0" bIns="0" rtlCol="0" anchor="t"/>
          <a:lstStyle/>
          <a:p>
            <a:pPr algn="ctr" indent="0" marL="0">
              <a:buNone/>
            </a:pPr>
            <a:r>
              <a:rPr lang="en-US" sz="1200" dirty="0">
                <a:solidFill>
                  <a:srgbClr val="5B6B7F"/>
                </a:solidFill>
                <a:latin typeface="Calibri" pitchFamily="34" charset="0"/>
                <a:ea typeface="Calibri" pitchFamily="34" charset="-122"/>
                <a:cs typeface="Calibri" pitchFamily="34" charset="-120"/>
              </a:rPr>
              <a:t>Day by day itinerary to copy or print</a:t>
            </a:r>
            <a:endParaRPr lang="en-US" sz="1200" dirty="0"/>
          </a:p>
        </p:txBody>
      </p:sp>
      <p:sp>
        <p:nvSpPr>
          <p:cNvPr id="29" name="Text 26"/>
          <p:cNvSpPr txBox="1"/>
          <p:nvPr/>
        </p:nvSpPr>
        <p:spPr>
          <a:xfrm>
            <a:off x="457200" y="4114800"/>
            <a:ext cx="7680960" cy="365760"/>
          </a:xfrm>
          <a:prstGeom prst="rect">
            <a:avLst/>
          </a:prstGeom>
          <a:noFill/>
          <a:ln/>
        </p:spPr>
        <p:txBody>
          <a:bodyPr wrap="square" lIns="0" tIns="0" rIns="0" bIns="0" rtlCol="0" anchor="t"/>
          <a:lstStyle/>
          <a:p>
            <a:pPr indent="0" marL="0">
              <a:buNone/>
            </a:pPr>
            <a:r>
              <a:rPr lang="en-US" sz="1500" b="1" dirty="0">
                <a:solidFill>
                  <a:srgbClr val="0E7C86"/>
                </a:solidFill>
                <a:latin typeface="Calibri" pitchFamily="34" charset="0"/>
                <a:ea typeface="Calibri" pitchFamily="34" charset="-122"/>
                <a:cs typeface="Calibri" pitchFamily="34" charset="-120"/>
              </a:rPr>
              <a:t>You enter three numbers. The planner does the maths and the planning.</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How it works</a:t>
            </a:r>
            <a:endParaRPr lang="en-US" sz="2600" dirty="0"/>
          </a:p>
        </p:txBody>
      </p:sp>
      <p:sp>
        <p:nvSpPr>
          <p:cNvPr id="4" name="Shape 1"/>
          <p:cNvSpPr/>
          <p:nvPr/>
        </p:nvSpPr>
        <p:spPr>
          <a:xfrm>
            <a:off x="457200" y="1097280"/>
            <a:ext cx="1554480" cy="685800"/>
          </a:xfrm>
          <a:prstGeom prst="roundRect">
            <a:avLst>
              <a:gd name="adj" fmla="val 10667"/>
            </a:avLst>
          </a:prstGeom>
          <a:solidFill>
            <a:srgbClr val="14213D"/>
          </a:solidFill>
          <a:ln w="9525">
            <a:solidFill>
              <a:srgbClr val="14213D"/>
            </a:solidFill>
            <a:prstDash val="solid"/>
          </a:ln>
        </p:spPr>
      </p:sp>
      <p:sp>
        <p:nvSpPr>
          <p:cNvPr id="5" name="Text 2"/>
          <p:cNvSpPr txBox="1"/>
          <p:nvPr/>
        </p:nvSpPr>
        <p:spPr>
          <a:xfrm>
            <a:off x="457200" y="1097280"/>
            <a:ext cx="155448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Inputs</a:t>
            </a:r>
            <a:endParaRPr lang="en-US" sz="1400" dirty="0"/>
          </a:p>
        </p:txBody>
      </p:sp>
      <p:sp>
        <p:nvSpPr>
          <p:cNvPr id="6" name="Shape 3"/>
          <p:cNvSpPr/>
          <p:nvPr/>
        </p:nvSpPr>
        <p:spPr>
          <a:xfrm>
            <a:off x="2121408" y="1097280"/>
            <a:ext cx="1554480" cy="685800"/>
          </a:xfrm>
          <a:prstGeom prst="roundRect">
            <a:avLst>
              <a:gd name="adj" fmla="val 10667"/>
            </a:avLst>
          </a:prstGeom>
          <a:solidFill>
            <a:srgbClr val="0E7C86"/>
          </a:solidFill>
          <a:ln w="9525">
            <a:solidFill>
              <a:srgbClr val="0E7C86"/>
            </a:solidFill>
            <a:prstDash val="solid"/>
          </a:ln>
        </p:spPr>
      </p:sp>
      <p:sp>
        <p:nvSpPr>
          <p:cNvPr id="7" name="Text 4"/>
          <p:cNvSpPr txBox="1"/>
          <p:nvPr/>
        </p:nvSpPr>
        <p:spPr>
          <a:xfrm>
            <a:off x="2121408" y="1097280"/>
            <a:ext cx="155448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Cost engine</a:t>
            </a:r>
            <a:endParaRPr lang="en-US" sz="1400" dirty="0"/>
          </a:p>
        </p:txBody>
      </p:sp>
      <p:sp>
        <p:nvSpPr>
          <p:cNvPr id="8" name="Shape 5"/>
          <p:cNvSpPr/>
          <p:nvPr/>
        </p:nvSpPr>
        <p:spPr>
          <a:xfrm>
            <a:off x="3785616" y="1097280"/>
            <a:ext cx="1554480" cy="685800"/>
          </a:xfrm>
          <a:prstGeom prst="roundRect">
            <a:avLst>
              <a:gd name="adj" fmla="val 10667"/>
            </a:avLst>
          </a:prstGeom>
          <a:solidFill>
            <a:srgbClr val="14213D"/>
          </a:solidFill>
          <a:ln w="9525">
            <a:solidFill>
              <a:srgbClr val="14213D"/>
            </a:solidFill>
            <a:prstDash val="solid"/>
          </a:ln>
        </p:spPr>
      </p:sp>
      <p:sp>
        <p:nvSpPr>
          <p:cNvPr id="9" name="Text 6"/>
          <p:cNvSpPr txBox="1"/>
          <p:nvPr/>
        </p:nvSpPr>
        <p:spPr>
          <a:xfrm>
            <a:off x="3785616" y="1097280"/>
            <a:ext cx="155448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Ranking</a:t>
            </a:r>
            <a:endParaRPr lang="en-US" sz="1400" dirty="0"/>
          </a:p>
        </p:txBody>
      </p:sp>
      <p:sp>
        <p:nvSpPr>
          <p:cNvPr id="10" name="Shape 7"/>
          <p:cNvSpPr/>
          <p:nvPr/>
        </p:nvSpPr>
        <p:spPr>
          <a:xfrm>
            <a:off x="5449824" y="1097280"/>
            <a:ext cx="1554480" cy="685800"/>
          </a:xfrm>
          <a:prstGeom prst="roundRect">
            <a:avLst>
              <a:gd name="adj" fmla="val 10667"/>
            </a:avLst>
          </a:prstGeom>
          <a:solidFill>
            <a:srgbClr val="14213D"/>
          </a:solidFill>
          <a:ln w="9525">
            <a:solidFill>
              <a:srgbClr val="14213D"/>
            </a:solidFill>
            <a:prstDash val="solid"/>
          </a:ln>
        </p:spPr>
      </p:sp>
      <p:sp>
        <p:nvSpPr>
          <p:cNvPr id="11" name="Text 8"/>
          <p:cNvSpPr txBox="1"/>
          <p:nvPr/>
        </p:nvSpPr>
        <p:spPr>
          <a:xfrm>
            <a:off x="5449824" y="1097280"/>
            <a:ext cx="155448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Breakdown</a:t>
            </a:r>
            <a:endParaRPr lang="en-US" sz="1400" dirty="0"/>
          </a:p>
        </p:txBody>
      </p:sp>
      <p:sp>
        <p:nvSpPr>
          <p:cNvPr id="12" name="Shape 9"/>
          <p:cNvSpPr/>
          <p:nvPr/>
        </p:nvSpPr>
        <p:spPr>
          <a:xfrm>
            <a:off x="7114032" y="1097280"/>
            <a:ext cx="1554480" cy="685800"/>
          </a:xfrm>
          <a:prstGeom prst="roundRect">
            <a:avLst>
              <a:gd name="adj" fmla="val 10667"/>
            </a:avLst>
          </a:prstGeom>
          <a:solidFill>
            <a:srgbClr val="14213D"/>
          </a:solidFill>
          <a:ln w="9525">
            <a:solidFill>
              <a:srgbClr val="14213D"/>
            </a:solidFill>
            <a:prstDash val="solid"/>
          </a:ln>
        </p:spPr>
      </p:sp>
      <p:sp>
        <p:nvSpPr>
          <p:cNvPr id="13" name="Text 10"/>
          <p:cNvSpPr txBox="1"/>
          <p:nvPr/>
        </p:nvSpPr>
        <p:spPr>
          <a:xfrm>
            <a:off x="7114032" y="1097280"/>
            <a:ext cx="155448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Itinerary</a:t>
            </a:r>
            <a:endParaRPr lang="en-US" sz="1400" dirty="0"/>
          </a:p>
        </p:txBody>
      </p:sp>
      <p:sp>
        <p:nvSpPr>
          <p:cNvPr id="14" name="Text 11"/>
          <p:cNvSpPr txBox="1"/>
          <p:nvPr/>
        </p:nvSpPr>
        <p:spPr>
          <a:xfrm>
            <a:off x="457200" y="1920240"/>
            <a:ext cx="7680960" cy="274320"/>
          </a:xfrm>
          <a:prstGeom prst="rect">
            <a:avLst/>
          </a:prstGeom>
          <a:noFill/>
          <a:ln/>
        </p:spPr>
        <p:txBody>
          <a:bodyPr wrap="square" lIns="0" tIns="0" rIns="0" bIns="0" rtlCol="0" anchor="t"/>
          <a:lstStyle/>
          <a:p>
            <a:pPr indent="0" marL="0">
              <a:buNone/>
            </a:pPr>
            <a:r>
              <a:rPr lang="en-US" sz="1200" i="1" dirty="0">
                <a:solidFill>
                  <a:srgbClr val="5B6B7F"/>
                </a:solidFill>
                <a:latin typeface="Calibri" pitchFamily="34" charset="0"/>
                <a:ea typeface="Calibri" pitchFamily="34" charset="-122"/>
                <a:cs typeface="Calibri" pitchFamily="34" charset="-120"/>
              </a:rPr>
              <a:t>Next: Claude API for natural language requests, and live hotel and ticket prices.</a:t>
            </a:r>
            <a:endParaRPr lang="en-US" sz="1200" dirty="0"/>
          </a:p>
        </p:txBody>
      </p:sp>
      <p:sp>
        <p:nvSpPr>
          <p:cNvPr id="15" name="Shape 12"/>
          <p:cNvSpPr/>
          <p:nvPr/>
        </p:nvSpPr>
        <p:spPr>
          <a:xfrm>
            <a:off x="457200" y="2377440"/>
            <a:ext cx="2651760" cy="2194560"/>
          </a:xfrm>
          <a:prstGeom prst="roundRect">
            <a:avLst>
              <a:gd name="adj" fmla="val 3333"/>
            </a:avLst>
          </a:prstGeom>
          <a:solidFill>
            <a:srgbClr val="FFFFFF"/>
          </a:solidFill>
          <a:ln w="9525">
            <a:solidFill>
              <a:srgbClr val="D9E2EA"/>
            </a:solidFill>
            <a:prstDash val="solid"/>
          </a:ln>
        </p:spPr>
      </p:sp>
      <p:sp>
        <p:nvSpPr>
          <p:cNvPr id="16" name="Text 13"/>
          <p:cNvSpPr txBox="1"/>
          <p:nvPr/>
        </p:nvSpPr>
        <p:spPr>
          <a:xfrm>
            <a:off x="621792" y="2514600"/>
            <a:ext cx="2286000" cy="274320"/>
          </a:xfrm>
          <a:prstGeom prst="rect">
            <a:avLst/>
          </a:prstGeom>
          <a:noFill/>
          <a:ln/>
        </p:spPr>
        <p:txBody>
          <a:bodyPr wrap="square" lIns="0" tIns="0" rIns="0" bIns="0" rtlCol="0" anchor="t"/>
          <a:lstStyle/>
          <a:p>
            <a:pPr indent="0" marL="0">
              <a:buNone/>
            </a:pPr>
            <a:r>
              <a:rPr lang="en-US" sz="1400" b="1" dirty="0">
                <a:solidFill>
                  <a:srgbClr val="0E7C86"/>
                </a:solidFill>
                <a:latin typeface="Calibri" pitchFamily="34" charset="0"/>
                <a:ea typeface="Calibri" pitchFamily="34" charset="-122"/>
                <a:cs typeface="Calibri" pitchFamily="34" charset="-120"/>
              </a:rPr>
              <a:t>Tech stack</a:t>
            </a:r>
            <a:endParaRPr lang="en-US" sz="1400" dirty="0"/>
          </a:p>
        </p:txBody>
      </p:sp>
      <p:sp>
        <p:nvSpPr>
          <p:cNvPr id="17" name="Text 14"/>
          <p:cNvSpPr txBox="1"/>
          <p:nvPr/>
        </p:nvSpPr>
        <p:spPr>
          <a:xfrm>
            <a:off x="621792" y="2880360"/>
            <a:ext cx="2331720" cy="1645920"/>
          </a:xfrm>
          <a:prstGeom prst="rect">
            <a:avLst/>
          </a:prstGeom>
          <a:noFill/>
          <a:ln/>
        </p:spPr>
        <p:txBody>
          <a:bodyPr wrap="square" lIns="0" tIns="0" rIns="0" bIns="0" rtlCol="0" anchor="t"/>
          <a:lstStyle/>
          <a:p>
            <a:pPr indent="0" marL="0">
              <a:buNone/>
            </a:pPr>
            <a:r>
              <a:rPr lang="en-US" sz="1200" dirty="0">
                <a:solidFill>
                  <a:srgbClr val="14213D"/>
                </a:solidFill>
                <a:latin typeface="Calibri" pitchFamily="34" charset="0"/>
                <a:ea typeface="Calibri" pitchFamily="34" charset="-122"/>
                <a:cs typeface="Calibri" pitchFamily="34" charset="-120"/>
              </a:rPr>
              <a:t>HTML, CSS and JavaScript</a:t>
            </a:r>
            <a:endParaRPr lang="en-US" sz="1200" dirty="0"/>
          </a:p>
          <a:p>
            <a:pPr indent="0" marL="0">
              <a:buNone/>
            </a:pPr>
            <a:r>
              <a:rPr lang="en-US" sz="1200" dirty="0">
                <a:solidFill>
                  <a:srgbClr val="14213D"/>
                </a:solidFill>
                <a:latin typeface="Calibri" pitchFamily="34" charset="0"/>
                <a:ea typeface="Calibri" pitchFamily="34" charset="-122"/>
                <a:cs typeface="Calibri" pitchFamily="34" charset="-120"/>
              </a:rPr>
              <a:t>Runs fully in the browser</a:t>
            </a:r>
            <a:endParaRPr lang="en-US" sz="1200" dirty="0"/>
          </a:p>
          <a:p>
            <a:pPr indent="0" marL="0">
              <a:buNone/>
            </a:pPr>
            <a:r>
              <a:rPr lang="en-US" sz="1200" dirty="0">
                <a:solidFill>
                  <a:srgbClr val="14213D"/>
                </a:solidFill>
                <a:latin typeface="Calibri" pitchFamily="34" charset="0"/>
                <a:ea typeface="Calibri" pitchFamily="34" charset="-122"/>
                <a:cs typeface="Calibri" pitchFamily="34" charset="-120"/>
              </a:rPr>
              <a:t>Hosted on GitHub Pages</a:t>
            </a:r>
            <a:endParaRPr lang="en-US" sz="1200" dirty="0"/>
          </a:p>
          <a:p>
            <a:pPr indent="0" marL="0">
              <a:buNone/>
            </a:pPr>
            <a:r>
              <a:rPr lang="en-US" sz="1200" dirty="0">
                <a:solidFill>
                  <a:srgbClr val="14213D"/>
                </a:solidFill>
                <a:latin typeface="Calibri" pitchFamily="34" charset="0"/>
                <a:ea typeface="Calibri" pitchFamily="34" charset="-122"/>
                <a:cs typeface="Calibri" pitchFamily="34" charset="-120"/>
              </a:rPr>
              <a:t>No login, no server</a:t>
            </a:r>
            <a:endParaRPr lang="en-US" sz="1200" dirty="0"/>
          </a:p>
        </p:txBody>
      </p:sp>
      <p:sp>
        <p:nvSpPr>
          <p:cNvPr id="18" name="Shape 15"/>
          <p:cNvSpPr/>
          <p:nvPr/>
        </p:nvSpPr>
        <p:spPr>
          <a:xfrm>
            <a:off x="3246120" y="2377440"/>
            <a:ext cx="2651760" cy="2194560"/>
          </a:xfrm>
          <a:prstGeom prst="roundRect">
            <a:avLst>
              <a:gd name="adj" fmla="val 3333"/>
            </a:avLst>
          </a:prstGeom>
          <a:solidFill>
            <a:srgbClr val="FFFFFF"/>
          </a:solidFill>
          <a:ln w="9525">
            <a:solidFill>
              <a:srgbClr val="D9E2EA"/>
            </a:solidFill>
            <a:prstDash val="solid"/>
          </a:ln>
        </p:spPr>
      </p:sp>
      <p:sp>
        <p:nvSpPr>
          <p:cNvPr id="19" name="Text 16"/>
          <p:cNvSpPr txBox="1"/>
          <p:nvPr/>
        </p:nvSpPr>
        <p:spPr>
          <a:xfrm>
            <a:off x="3410712" y="2514600"/>
            <a:ext cx="2286000" cy="274320"/>
          </a:xfrm>
          <a:prstGeom prst="rect">
            <a:avLst/>
          </a:prstGeom>
          <a:noFill/>
          <a:ln/>
        </p:spPr>
        <p:txBody>
          <a:bodyPr wrap="square" lIns="0" tIns="0" rIns="0" bIns="0" rtlCol="0" anchor="t"/>
          <a:lstStyle/>
          <a:p>
            <a:pPr indent="0" marL="0">
              <a:buNone/>
            </a:pPr>
            <a:r>
              <a:rPr lang="en-US" sz="1400" b="1" dirty="0">
                <a:solidFill>
                  <a:srgbClr val="0E7C86"/>
                </a:solidFill>
                <a:latin typeface="Calibri" pitchFamily="34" charset="0"/>
                <a:ea typeface="Calibri" pitchFamily="34" charset="-122"/>
                <a:cs typeface="Calibri" pitchFamily="34" charset="-120"/>
              </a:rPr>
              <a:t>Cost formula</a:t>
            </a:r>
            <a:endParaRPr lang="en-US" sz="1400" dirty="0"/>
          </a:p>
        </p:txBody>
      </p:sp>
      <p:sp>
        <p:nvSpPr>
          <p:cNvPr id="20" name="Text 17"/>
          <p:cNvSpPr txBox="1"/>
          <p:nvPr/>
        </p:nvSpPr>
        <p:spPr>
          <a:xfrm>
            <a:off x="3410712" y="2880360"/>
            <a:ext cx="2331720" cy="1645920"/>
          </a:xfrm>
          <a:prstGeom prst="rect">
            <a:avLst/>
          </a:prstGeom>
          <a:noFill/>
          <a:ln/>
        </p:spPr>
        <p:txBody>
          <a:bodyPr wrap="square" lIns="0" tIns="0" rIns="0" bIns="0" rtlCol="0" anchor="t"/>
          <a:lstStyle/>
          <a:p>
            <a:pPr indent="0" marL="0">
              <a:buNone/>
            </a:pPr>
            <a:r>
              <a:rPr lang="en-US" sz="1200" dirty="0">
                <a:solidFill>
                  <a:srgbClr val="14213D"/>
                </a:solidFill>
                <a:latin typeface="Calibri" pitchFamily="34" charset="0"/>
                <a:ea typeface="Calibri" pitchFamily="34" charset="-122"/>
                <a:cs typeface="Calibri" pitchFamily="34" charset="-120"/>
              </a:rPr>
              <a:t>Total = travel + stay + food + activities + local transport + 10% buffer</a:t>
            </a:r>
            <a:endParaRPr lang="en-US" sz="1200" dirty="0"/>
          </a:p>
          <a:p>
            <a:pPr indent="0" marL="0">
              <a:buNone/>
            </a:pPr>
            <a:r>
              <a:rPr lang="en-US" sz="1200" dirty="0">
                <a:solidFill>
                  <a:srgbClr val="14213D"/>
                </a:solidFill>
                <a:latin typeface="Calibri" pitchFamily="34" charset="0"/>
                <a:ea typeface="Calibri" pitchFamily="34" charset="-122"/>
                <a:cs typeface="Calibri" pitchFamily="34" charset="-120"/>
              </a:rPr>
              <a:t>2 people per room, 1 cab per 4 people</a:t>
            </a:r>
            <a:endParaRPr lang="en-US" sz="1200" dirty="0"/>
          </a:p>
        </p:txBody>
      </p:sp>
      <p:sp>
        <p:nvSpPr>
          <p:cNvPr id="21" name="Shape 18"/>
          <p:cNvSpPr/>
          <p:nvPr/>
        </p:nvSpPr>
        <p:spPr>
          <a:xfrm>
            <a:off x="6035040" y="2377440"/>
            <a:ext cx="2651760" cy="2194560"/>
          </a:xfrm>
          <a:prstGeom prst="roundRect">
            <a:avLst>
              <a:gd name="adj" fmla="val 3333"/>
            </a:avLst>
          </a:prstGeom>
          <a:solidFill>
            <a:srgbClr val="FFFFFF"/>
          </a:solidFill>
          <a:ln w="9525">
            <a:solidFill>
              <a:srgbClr val="D9E2EA"/>
            </a:solidFill>
            <a:prstDash val="solid"/>
          </a:ln>
        </p:spPr>
      </p:sp>
      <p:sp>
        <p:nvSpPr>
          <p:cNvPr id="22" name="Text 19"/>
          <p:cNvSpPr txBox="1"/>
          <p:nvPr/>
        </p:nvSpPr>
        <p:spPr>
          <a:xfrm>
            <a:off x="6199632" y="2514600"/>
            <a:ext cx="2286000" cy="274320"/>
          </a:xfrm>
          <a:prstGeom prst="rect">
            <a:avLst/>
          </a:prstGeom>
          <a:noFill/>
          <a:ln/>
        </p:spPr>
        <p:txBody>
          <a:bodyPr wrap="square" lIns="0" tIns="0" rIns="0" bIns="0" rtlCol="0" anchor="t"/>
          <a:lstStyle/>
          <a:p>
            <a:pPr indent="0" marL="0">
              <a:buNone/>
            </a:pPr>
            <a:r>
              <a:rPr lang="en-US" sz="1400" b="1" dirty="0">
                <a:solidFill>
                  <a:srgbClr val="0E7C86"/>
                </a:solidFill>
                <a:latin typeface="Calibri" pitchFamily="34" charset="0"/>
                <a:ea typeface="Calibri" pitchFamily="34" charset="-122"/>
                <a:cs typeface="Calibri" pitchFamily="34" charset="-120"/>
              </a:rPr>
              <a:t>Ranking rule</a:t>
            </a:r>
            <a:endParaRPr lang="en-US" sz="1400" dirty="0"/>
          </a:p>
        </p:txBody>
      </p:sp>
      <p:sp>
        <p:nvSpPr>
          <p:cNvPr id="23" name="Text 20"/>
          <p:cNvSpPr txBox="1"/>
          <p:nvPr/>
        </p:nvSpPr>
        <p:spPr>
          <a:xfrm>
            <a:off x="6199632" y="2880360"/>
            <a:ext cx="2331720" cy="1645920"/>
          </a:xfrm>
          <a:prstGeom prst="rect">
            <a:avLst/>
          </a:prstGeom>
          <a:noFill/>
          <a:ln/>
        </p:spPr>
        <p:txBody>
          <a:bodyPr wrap="square" lIns="0" tIns="0" rIns="0" bIns="0" rtlCol="0" anchor="t"/>
          <a:lstStyle/>
          <a:p>
            <a:pPr indent="0" marL="0">
              <a:buNone/>
            </a:pPr>
            <a:r>
              <a:rPr lang="en-US" sz="1200" dirty="0">
                <a:solidFill>
                  <a:srgbClr val="14213D"/>
                </a:solidFill>
                <a:latin typeface="Calibri" pitchFamily="34" charset="0"/>
                <a:ea typeface="Calibri" pitchFamily="34" charset="-122"/>
                <a:cs typeface="Calibri" pitchFamily="34" charset="-120"/>
              </a:rPr>
              <a:t>Places that fit the budget come first, then the higher comfort level, then the one that uses the budget well. Too few days lowers the rank.</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Prototype: budget fit and day plan</a:t>
            </a:r>
            <a:endParaRPr lang="en-US" sz="2600" dirty="0"/>
          </a:p>
        </p:txBody>
      </p:sp>
      <p:sp>
        <p:nvSpPr>
          <p:cNvPr id="4" name="Shape 1"/>
          <p:cNvSpPr/>
          <p:nvPr/>
        </p:nvSpPr>
        <p:spPr>
          <a:xfrm>
            <a:off x="457200" y="1051560"/>
            <a:ext cx="5120640" cy="3566160"/>
          </a:xfrm>
          <a:prstGeom prst="roundRect">
            <a:avLst>
              <a:gd name="adj" fmla="val 2051"/>
            </a:avLst>
          </a:prstGeom>
          <a:solidFill>
            <a:srgbClr val="E3EEF1"/>
          </a:solidFill>
          <a:ln w="9525">
            <a:solidFill>
              <a:srgbClr val="D9E2EA"/>
            </a:solidFill>
            <a:prstDash val="solid"/>
          </a:ln>
        </p:spPr>
      </p:sp>
      <p:sp>
        <p:nvSpPr>
          <p:cNvPr id="5" name="Shape 2"/>
          <p:cNvSpPr/>
          <p:nvPr/>
        </p:nvSpPr>
        <p:spPr>
          <a:xfrm>
            <a:off x="594360" y="1188720"/>
            <a:ext cx="4846320" cy="822960"/>
          </a:xfrm>
          <a:prstGeom prst="roundRect">
            <a:avLst>
              <a:gd name="adj" fmla="val 8889"/>
            </a:avLst>
          </a:prstGeom>
          <a:solidFill>
            <a:srgbClr val="0E7C86"/>
          </a:solidFill>
          <a:ln w="9525">
            <a:solidFill>
              <a:srgbClr val="0E7C86"/>
            </a:solidFill>
            <a:prstDash val="solid"/>
          </a:ln>
        </p:spPr>
      </p:sp>
      <p:sp>
        <p:nvSpPr>
          <p:cNvPr id="6" name="Text 3"/>
          <p:cNvSpPr txBox="1"/>
          <p:nvPr/>
        </p:nvSpPr>
        <p:spPr>
          <a:xfrm>
            <a:off x="777240" y="1280160"/>
            <a:ext cx="2743200" cy="228600"/>
          </a:xfrm>
          <a:prstGeom prst="rect">
            <a:avLst/>
          </a:prstGeom>
          <a:noFill/>
          <a:ln/>
        </p:spPr>
        <p:txBody>
          <a:bodyPr wrap="square" lIns="0" tIns="0" rIns="0" bIns="0" rtlCol="0" anchor="t"/>
          <a:lstStyle/>
          <a:p>
            <a:pPr indent="0" marL="0">
              <a:buNone/>
            </a:pPr>
            <a:r>
              <a:rPr lang="en-US" sz="1100" b="1" dirty="0">
                <a:solidFill>
                  <a:srgbClr val="D6F0F0"/>
                </a:solidFill>
                <a:latin typeface="Calibri" pitchFamily="34" charset="0"/>
                <a:ea typeface="Calibri" pitchFamily="34" charset="-122"/>
                <a:cs typeface="Calibri" pitchFamily="34" charset="-120"/>
              </a:rPr>
              <a:t>Your trip fits the budget</a:t>
            </a:r>
            <a:endParaRPr lang="en-US" sz="1100" dirty="0"/>
          </a:p>
        </p:txBody>
      </p:sp>
      <p:sp>
        <p:nvSpPr>
          <p:cNvPr id="7" name="Text 4"/>
          <p:cNvSpPr txBox="1"/>
          <p:nvPr/>
        </p:nvSpPr>
        <p:spPr>
          <a:xfrm>
            <a:off x="777240" y="1536192"/>
            <a:ext cx="3291840" cy="365760"/>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Udaipur, 5 days, 4 people</a:t>
            </a:r>
            <a:endParaRPr lang="en-US" sz="1900" dirty="0"/>
          </a:p>
        </p:txBody>
      </p:sp>
      <p:sp>
        <p:nvSpPr>
          <p:cNvPr id="8" name="Text 5"/>
          <p:cNvSpPr txBox="1"/>
          <p:nvPr/>
        </p:nvSpPr>
        <p:spPr>
          <a:xfrm>
            <a:off x="3931920" y="1536192"/>
            <a:ext cx="1371600" cy="365760"/>
          </a:xfrm>
          <a:prstGeom prst="rect">
            <a:avLst/>
          </a:prstGeom>
          <a:noFill/>
          <a:ln/>
        </p:spPr>
        <p:txBody>
          <a:bodyPr wrap="square" lIns="0" tIns="0" rIns="0" bIns="0" rtlCol="0" anchor="t"/>
          <a:lstStyle/>
          <a:p>
            <a:pPr algn="r" indent="0" marL="0">
              <a:buNone/>
            </a:pPr>
            <a:r>
              <a:rPr lang="en-US" sz="1400" b="1" dirty="0">
                <a:solidFill>
                  <a:srgbClr val="F2A900"/>
                </a:solidFill>
                <a:latin typeface="Calibri" pitchFamily="34" charset="0"/>
                <a:ea typeface="Calibri" pitchFamily="34" charset="-122"/>
                <a:cs typeface="Calibri" pitchFamily="34" charset="-120"/>
              </a:rPr>
              <a:t>Budget level</a:t>
            </a:r>
            <a:endParaRPr lang="en-US" sz="1400" dirty="0"/>
          </a:p>
        </p:txBody>
      </p:sp>
      <p:sp>
        <p:nvSpPr>
          <p:cNvPr id="9" name="Shape 6"/>
          <p:cNvSpPr/>
          <p:nvPr/>
        </p:nvSpPr>
        <p:spPr>
          <a:xfrm>
            <a:off x="594360" y="2121408"/>
            <a:ext cx="1554480" cy="640080"/>
          </a:xfrm>
          <a:prstGeom prst="roundRect">
            <a:avLst>
              <a:gd name="adj" fmla="val 11429"/>
            </a:avLst>
          </a:prstGeom>
          <a:solidFill>
            <a:srgbClr val="FFFFFF"/>
          </a:solidFill>
          <a:ln w="9525">
            <a:solidFill>
              <a:srgbClr val="FFFFFF"/>
            </a:solidFill>
            <a:prstDash val="solid"/>
          </a:ln>
        </p:spPr>
      </p:sp>
      <p:sp>
        <p:nvSpPr>
          <p:cNvPr id="10" name="Text 7"/>
          <p:cNvSpPr txBox="1"/>
          <p:nvPr/>
        </p:nvSpPr>
        <p:spPr>
          <a:xfrm>
            <a:off x="704088" y="2176272"/>
            <a:ext cx="1371600" cy="320040"/>
          </a:xfrm>
          <a:prstGeom prst="rect">
            <a:avLst/>
          </a:prstGeom>
          <a:noFill/>
          <a:ln/>
        </p:spPr>
        <p:txBody>
          <a:bodyPr wrap="square" lIns="0" tIns="0" rIns="0" bIns="0" rtlCol="0" anchor="t"/>
          <a:lstStyle/>
          <a:p>
            <a:pPr indent="0" marL="0">
              <a:buNone/>
            </a:pPr>
            <a:r>
              <a:rPr lang="en-US" sz="1700" b="1" dirty="0">
                <a:solidFill>
                  <a:srgbClr val="14213D"/>
                </a:solidFill>
                <a:latin typeface="Calibri" pitchFamily="34" charset="0"/>
                <a:ea typeface="Calibri" pitchFamily="34" charset="-122"/>
                <a:cs typeface="Calibri" pitchFamily="34" charset="-120"/>
              </a:rPr>
              <a:t>₹38,170</a:t>
            </a:r>
            <a:endParaRPr lang="en-US" sz="1700" dirty="0"/>
          </a:p>
        </p:txBody>
      </p:sp>
      <p:sp>
        <p:nvSpPr>
          <p:cNvPr id="11" name="Text 8"/>
          <p:cNvSpPr txBox="1"/>
          <p:nvPr/>
        </p:nvSpPr>
        <p:spPr>
          <a:xfrm>
            <a:off x="704088" y="2505456"/>
            <a:ext cx="1371600" cy="201168"/>
          </a:xfrm>
          <a:prstGeom prst="rect">
            <a:avLst/>
          </a:prstGeom>
          <a:noFill/>
          <a:ln/>
        </p:spPr>
        <p:txBody>
          <a:bodyPr wrap="square" lIns="0" tIns="0" rIns="0" bIns="0" rtlCol="0" anchor="t"/>
          <a:lstStyle/>
          <a:p>
            <a:pPr indent="0" marL="0">
              <a:buNone/>
            </a:pPr>
            <a:r>
              <a:rPr lang="en-US" sz="1000" dirty="0">
                <a:solidFill>
                  <a:srgbClr val="5B6B7F"/>
                </a:solidFill>
                <a:latin typeface="Calibri" pitchFamily="34" charset="0"/>
                <a:ea typeface="Calibri" pitchFamily="34" charset="-122"/>
                <a:cs typeface="Calibri" pitchFamily="34" charset="-120"/>
              </a:rPr>
              <a:t>Total</a:t>
            </a:r>
            <a:endParaRPr lang="en-US" sz="1000" dirty="0"/>
          </a:p>
        </p:txBody>
      </p:sp>
      <p:sp>
        <p:nvSpPr>
          <p:cNvPr id="12" name="Shape 9"/>
          <p:cNvSpPr/>
          <p:nvPr/>
        </p:nvSpPr>
        <p:spPr>
          <a:xfrm>
            <a:off x="2240280" y="2121408"/>
            <a:ext cx="1554480" cy="640080"/>
          </a:xfrm>
          <a:prstGeom prst="roundRect">
            <a:avLst>
              <a:gd name="adj" fmla="val 11429"/>
            </a:avLst>
          </a:prstGeom>
          <a:solidFill>
            <a:srgbClr val="FFFFFF"/>
          </a:solidFill>
          <a:ln w="9525">
            <a:solidFill>
              <a:srgbClr val="FFFFFF"/>
            </a:solidFill>
            <a:prstDash val="solid"/>
          </a:ln>
        </p:spPr>
      </p:sp>
      <p:sp>
        <p:nvSpPr>
          <p:cNvPr id="13" name="Text 10"/>
          <p:cNvSpPr txBox="1"/>
          <p:nvPr/>
        </p:nvSpPr>
        <p:spPr>
          <a:xfrm>
            <a:off x="2350008" y="2176272"/>
            <a:ext cx="1371600" cy="320040"/>
          </a:xfrm>
          <a:prstGeom prst="rect">
            <a:avLst/>
          </a:prstGeom>
          <a:noFill/>
          <a:ln/>
        </p:spPr>
        <p:txBody>
          <a:bodyPr wrap="square" lIns="0" tIns="0" rIns="0" bIns="0" rtlCol="0" anchor="t"/>
          <a:lstStyle/>
          <a:p>
            <a:pPr indent="0" marL="0">
              <a:buNone/>
            </a:pPr>
            <a:r>
              <a:rPr lang="en-US" sz="1700" b="1" dirty="0">
                <a:solidFill>
                  <a:srgbClr val="14213D"/>
                </a:solidFill>
                <a:latin typeface="Calibri" pitchFamily="34" charset="0"/>
                <a:ea typeface="Calibri" pitchFamily="34" charset="-122"/>
                <a:cs typeface="Calibri" pitchFamily="34" charset="-120"/>
              </a:rPr>
              <a:t>₹9,543</a:t>
            </a:r>
            <a:endParaRPr lang="en-US" sz="1700" dirty="0"/>
          </a:p>
        </p:txBody>
      </p:sp>
      <p:sp>
        <p:nvSpPr>
          <p:cNvPr id="14" name="Text 11"/>
          <p:cNvSpPr txBox="1"/>
          <p:nvPr/>
        </p:nvSpPr>
        <p:spPr>
          <a:xfrm>
            <a:off x="2350008" y="2505456"/>
            <a:ext cx="1371600" cy="201168"/>
          </a:xfrm>
          <a:prstGeom prst="rect">
            <a:avLst/>
          </a:prstGeom>
          <a:noFill/>
          <a:ln/>
        </p:spPr>
        <p:txBody>
          <a:bodyPr wrap="square" lIns="0" tIns="0" rIns="0" bIns="0" rtlCol="0" anchor="t"/>
          <a:lstStyle/>
          <a:p>
            <a:pPr indent="0" marL="0">
              <a:buNone/>
            </a:pPr>
            <a:r>
              <a:rPr lang="en-US" sz="1000" dirty="0">
                <a:solidFill>
                  <a:srgbClr val="5B6B7F"/>
                </a:solidFill>
                <a:latin typeface="Calibri" pitchFamily="34" charset="0"/>
                <a:ea typeface="Calibri" pitchFamily="34" charset="-122"/>
                <a:cs typeface="Calibri" pitchFamily="34" charset="-120"/>
              </a:rPr>
              <a:t>Per person</a:t>
            </a:r>
            <a:endParaRPr lang="en-US" sz="1000" dirty="0"/>
          </a:p>
        </p:txBody>
      </p:sp>
      <p:sp>
        <p:nvSpPr>
          <p:cNvPr id="15" name="Shape 12"/>
          <p:cNvSpPr/>
          <p:nvPr/>
        </p:nvSpPr>
        <p:spPr>
          <a:xfrm>
            <a:off x="3886200" y="2121408"/>
            <a:ext cx="1554480" cy="640080"/>
          </a:xfrm>
          <a:prstGeom prst="roundRect">
            <a:avLst>
              <a:gd name="adj" fmla="val 11429"/>
            </a:avLst>
          </a:prstGeom>
          <a:solidFill>
            <a:srgbClr val="FFFFFF"/>
          </a:solidFill>
          <a:ln w="9525">
            <a:solidFill>
              <a:srgbClr val="FFFFFF"/>
            </a:solidFill>
            <a:prstDash val="solid"/>
          </a:ln>
        </p:spPr>
      </p:sp>
      <p:sp>
        <p:nvSpPr>
          <p:cNvPr id="16" name="Text 13"/>
          <p:cNvSpPr txBox="1"/>
          <p:nvPr/>
        </p:nvSpPr>
        <p:spPr>
          <a:xfrm>
            <a:off x="3995928" y="2176272"/>
            <a:ext cx="1371600" cy="320040"/>
          </a:xfrm>
          <a:prstGeom prst="rect">
            <a:avLst/>
          </a:prstGeom>
          <a:noFill/>
          <a:ln/>
        </p:spPr>
        <p:txBody>
          <a:bodyPr wrap="square" lIns="0" tIns="0" rIns="0" bIns="0" rtlCol="0" anchor="t"/>
          <a:lstStyle/>
          <a:p>
            <a:pPr indent="0" marL="0">
              <a:buNone/>
            </a:pPr>
            <a:r>
              <a:rPr lang="en-US" sz="1700" b="1" dirty="0">
                <a:solidFill>
                  <a:srgbClr val="0E7C86"/>
                </a:solidFill>
                <a:latin typeface="Calibri" pitchFamily="34" charset="0"/>
                <a:ea typeface="Calibri" pitchFamily="34" charset="-122"/>
                <a:cs typeface="Calibri" pitchFamily="34" charset="-120"/>
              </a:rPr>
              <a:t>₹1,830</a:t>
            </a:r>
            <a:endParaRPr lang="en-US" sz="1700" dirty="0"/>
          </a:p>
        </p:txBody>
      </p:sp>
      <p:sp>
        <p:nvSpPr>
          <p:cNvPr id="17" name="Text 14"/>
          <p:cNvSpPr txBox="1"/>
          <p:nvPr/>
        </p:nvSpPr>
        <p:spPr>
          <a:xfrm>
            <a:off x="3995928" y="2505456"/>
            <a:ext cx="1371600" cy="201168"/>
          </a:xfrm>
          <a:prstGeom prst="rect">
            <a:avLst/>
          </a:prstGeom>
          <a:noFill/>
          <a:ln/>
        </p:spPr>
        <p:txBody>
          <a:bodyPr wrap="square" lIns="0" tIns="0" rIns="0" bIns="0" rtlCol="0" anchor="t"/>
          <a:lstStyle/>
          <a:p>
            <a:pPr indent="0" marL="0">
              <a:buNone/>
            </a:pPr>
            <a:r>
              <a:rPr lang="en-US" sz="1000" dirty="0">
                <a:solidFill>
                  <a:srgbClr val="5B6B7F"/>
                </a:solidFill>
                <a:latin typeface="Calibri" pitchFamily="34" charset="0"/>
                <a:ea typeface="Calibri" pitchFamily="34" charset="-122"/>
                <a:cs typeface="Calibri" pitchFamily="34" charset="-120"/>
              </a:rPr>
              <a:t>Left</a:t>
            </a:r>
            <a:endParaRPr lang="en-US" sz="1000" dirty="0"/>
          </a:p>
        </p:txBody>
      </p:sp>
      <p:sp>
        <p:nvSpPr>
          <p:cNvPr id="18" name="Shape 15"/>
          <p:cNvSpPr/>
          <p:nvPr/>
        </p:nvSpPr>
        <p:spPr>
          <a:xfrm>
            <a:off x="594360" y="2898648"/>
            <a:ext cx="1015734" cy="201168"/>
          </a:xfrm>
          <a:prstGeom prst="rect">
            <a:avLst/>
          </a:prstGeom>
          <a:solidFill>
            <a:srgbClr val="14213D"/>
          </a:solidFill>
          <a:ln w="12700">
            <a:solidFill>
              <a:srgbClr val="14213D"/>
            </a:solidFill>
            <a:prstDash val="solid"/>
          </a:ln>
        </p:spPr>
      </p:sp>
      <p:sp>
        <p:nvSpPr>
          <p:cNvPr id="19" name="Shape 16"/>
          <p:cNvSpPr/>
          <p:nvPr/>
        </p:nvSpPr>
        <p:spPr>
          <a:xfrm>
            <a:off x="1610094" y="2898648"/>
            <a:ext cx="914160" cy="201168"/>
          </a:xfrm>
          <a:prstGeom prst="rect">
            <a:avLst/>
          </a:prstGeom>
          <a:solidFill>
            <a:srgbClr val="0E7C86"/>
          </a:solidFill>
          <a:ln w="12700">
            <a:solidFill>
              <a:srgbClr val="0E7C86"/>
            </a:solidFill>
            <a:prstDash val="solid"/>
          </a:ln>
        </p:spPr>
      </p:sp>
      <p:sp>
        <p:nvSpPr>
          <p:cNvPr id="20" name="Shape 17"/>
          <p:cNvSpPr/>
          <p:nvPr/>
        </p:nvSpPr>
        <p:spPr>
          <a:xfrm>
            <a:off x="2524254" y="2898648"/>
            <a:ext cx="1015734" cy="201168"/>
          </a:xfrm>
          <a:prstGeom prst="rect">
            <a:avLst/>
          </a:prstGeom>
          <a:solidFill>
            <a:srgbClr val="F2A900"/>
          </a:solidFill>
          <a:ln w="12700">
            <a:solidFill>
              <a:srgbClr val="F2A900"/>
            </a:solidFill>
            <a:prstDash val="solid"/>
          </a:ln>
        </p:spPr>
      </p:sp>
      <p:sp>
        <p:nvSpPr>
          <p:cNvPr id="21" name="Shape 18"/>
          <p:cNvSpPr/>
          <p:nvPr/>
        </p:nvSpPr>
        <p:spPr>
          <a:xfrm>
            <a:off x="3539988" y="2898648"/>
            <a:ext cx="1015734" cy="201168"/>
          </a:xfrm>
          <a:prstGeom prst="rect">
            <a:avLst/>
          </a:prstGeom>
          <a:solidFill>
            <a:srgbClr val="6A5ACD"/>
          </a:solidFill>
          <a:ln w="12700">
            <a:solidFill>
              <a:srgbClr val="6A5ACD"/>
            </a:solidFill>
            <a:prstDash val="solid"/>
          </a:ln>
        </p:spPr>
      </p:sp>
      <p:sp>
        <p:nvSpPr>
          <p:cNvPr id="22" name="Shape 19"/>
          <p:cNvSpPr/>
          <p:nvPr/>
        </p:nvSpPr>
        <p:spPr>
          <a:xfrm>
            <a:off x="4555722" y="2898648"/>
            <a:ext cx="444384" cy="201168"/>
          </a:xfrm>
          <a:prstGeom prst="rect">
            <a:avLst/>
          </a:prstGeom>
          <a:solidFill>
            <a:srgbClr val="3B9AE1"/>
          </a:solidFill>
          <a:ln w="12700">
            <a:solidFill>
              <a:srgbClr val="3B9AE1"/>
            </a:solidFill>
            <a:prstDash val="solid"/>
          </a:ln>
        </p:spPr>
      </p:sp>
      <p:sp>
        <p:nvSpPr>
          <p:cNvPr id="23" name="Shape 20"/>
          <p:cNvSpPr/>
          <p:nvPr/>
        </p:nvSpPr>
        <p:spPr>
          <a:xfrm>
            <a:off x="5000105" y="2898648"/>
            <a:ext cx="440575" cy="201168"/>
          </a:xfrm>
          <a:prstGeom prst="rect">
            <a:avLst/>
          </a:prstGeom>
          <a:solidFill>
            <a:srgbClr val="9AA8B8"/>
          </a:solidFill>
          <a:ln w="12700">
            <a:solidFill>
              <a:srgbClr val="9AA8B8"/>
            </a:solidFill>
            <a:prstDash val="solid"/>
          </a:ln>
        </p:spPr>
      </p:sp>
      <p:sp>
        <p:nvSpPr>
          <p:cNvPr id="24" name="Shape 21"/>
          <p:cNvSpPr/>
          <p:nvPr/>
        </p:nvSpPr>
        <p:spPr>
          <a:xfrm>
            <a:off x="640080" y="3300984"/>
            <a:ext cx="118872" cy="118872"/>
          </a:xfrm>
          <a:prstGeom prst="rect">
            <a:avLst/>
          </a:prstGeom>
          <a:solidFill>
            <a:srgbClr val="14213D"/>
          </a:solidFill>
          <a:ln w="12700">
            <a:solidFill>
              <a:srgbClr val="14213D"/>
            </a:solidFill>
            <a:prstDash val="solid"/>
          </a:ln>
        </p:spPr>
      </p:sp>
      <p:sp>
        <p:nvSpPr>
          <p:cNvPr id="25" name="Text 22"/>
          <p:cNvSpPr txBox="1"/>
          <p:nvPr/>
        </p:nvSpPr>
        <p:spPr>
          <a:xfrm>
            <a:off x="841248" y="3246120"/>
            <a:ext cx="1280160" cy="237744"/>
          </a:xfrm>
          <a:prstGeom prst="rect">
            <a:avLst/>
          </a:prstGeom>
          <a:noFill/>
          <a:ln/>
        </p:spPr>
        <p:txBody>
          <a:bodyPr wrap="square" lIns="0" tIns="0" rIns="0" bIns="0" rtlCol="0" anchor="t"/>
          <a:lstStyle/>
          <a:p>
            <a:pPr indent="0" marL="0">
              <a:buNone/>
            </a:pPr>
            <a:r>
              <a:rPr lang="en-US" sz="1100" dirty="0">
                <a:solidFill>
                  <a:srgbClr val="14213D"/>
                </a:solidFill>
                <a:latin typeface="Calibri" pitchFamily="34" charset="0"/>
                <a:ea typeface="Calibri" pitchFamily="34" charset="-122"/>
                <a:cs typeface="Calibri" pitchFamily="34" charset="-120"/>
              </a:rPr>
              <a:t>Travel</a:t>
            </a:r>
            <a:endParaRPr lang="en-US" sz="1100" dirty="0"/>
          </a:p>
        </p:txBody>
      </p:sp>
      <p:sp>
        <p:nvSpPr>
          <p:cNvPr id="26" name="Text 23"/>
          <p:cNvSpPr txBox="1"/>
          <p:nvPr/>
        </p:nvSpPr>
        <p:spPr>
          <a:xfrm>
            <a:off x="1920240" y="3246120"/>
            <a:ext cx="1005840" cy="237744"/>
          </a:xfrm>
          <a:prstGeom prst="rect">
            <a:avLst/>
          </a:prstGeom>
          <a:noFill/>
          <a:ln/>
        </p:spPr>
        <p:txBody>
          <a:bodyPr wrap="square" lIns="0" tIns="0" rIns="0" bIns="0" rtlCol="0" anchor="t"/>
          <a:lstStyle/>
          <a:p>
            <a:pPr algn="r" indent="0" marL="0">
              <a:buNone/>
            </a:pPr>
            <a:r>
              <a:rPr lang="en-US" sz="1100" b="1" dirty="0">
                <a:solidFill>
                  <a:srgbClr val="14213D"/>
                </a:solidFill>
                <a:latin typeface="Calibri" pitchFamily="34" charset="0"/>
                <a:ea typeface="Calibri" pitchFamily="34" charset="-122"/>
                <a:cs typeface="Calibri" pitchFamily="34" charset="-120"/>
              </a:rPr>
              <a:t>₹8,000</a:t>
            </a:r>
            <a:endParaRPr lang="en-US" sz="1100" dirty="0"/>
          </a:p>
        </p:txBody>
      </p:sp>
      <p:sp>
        <p:nvSpPr>
          <p:cNvPr id="27" name="Shape 24"/>
          <p:cNvSpPr/>
          <p:nvPr/>
        </p:nvSpPr>
        <p:spPr>
          <a:xfrm>
            <a:off x="3108960" y="3300984"/>
            <a:ext cx="118872" cy="118872"/>
          </a:xfrm>
          <a:prstGeom prst="rect">
            <a:avLst/>
          </a:prstGeom>
          <a:solidFill>
            <a:srgbClr val="0E7C86"/>
          </a:solidFill>
          <a:ln w="12700">
            <a:solidFill>
              <a:srgbClr val="0E7C86"/>
            </a:solidFill>
            <a:prstDash val="solid"/>
          </a:ln>
        </p:spPr>
      </p:sp>
      <p:sp>
        <p:nvSpPr>
          <p:cNvPr id="28" name="Text 25"/>
          <p:cNvSpPr txBox="1"/>
          <p:nvPr/>
        </p:nvSpPr>
        <p:spPr>
          <a:xfrm>
            <a:off x="3310128" y="3246120"/>
            <a:ext cx="1280160" cy="237744"/>
          </a:xfrm>
          <a:prstGeom prst="rect">
            <a:avLst/>
          </a:prstGeom>
          <a:noFill/>
          <a:ln/>
        </p:spPr>
        <p:txBody>
          <a:bodyPr wrap="square" lIns="0" tIns="0" rIns="0" bIns="0" rtlCol="0" anchor="t"/>
          <a:lstStyle/>
          <a:p>
            <a:pPr indent="0" marL="0">
              <a:buNone/>
            </a:pPr>
            <a:r>
              <a:rPr lang="en-US" sz="1100" dirty="0">
                <a:solidFill>
                  <a:srgbClr val="14213D"/>
                </a:solidFill>
                <a:latin typeface="Calibri" pitchFamily="34" charset="0"/>
                <a:ea typeface="Calibri" pitchFamily="34" charset="-122"/>
                <a:cs typeface="Calibri" pitchFamily="34" charset="-120"/>
              </a:rPr>
              <a:t>Stay</a:t>
            </a:r>
            <a:endParaRPr lang="en-US" sz="1100" dirty="0"/>
          </a:p>
        </p:txBody>
      </p:sp>
      <p:sp>
        <p:nvSpPr>
          <p:cNvPr id="29" name="Text 26"/>
          <p:cNvSpPr txBox="1"/>
          <p:nvPr/>
        </p:nvSpPr>
        <p:spPr>
          <a:xfrm>
            <a:off x="4389120" y="3246120"/>
            <a:ext cx="1005840" cy="237744"/>
          </a:xfrm>
          <a:prstGeom prst="rect">
            <a:avLst/>
          </a:prstGeom>
          <a:noFill/>
          <a:ln/>
        </p:spPr>
        <p:txBody>
          <a:bodyPr wrap="square" lIns="0" tIns="0" rIns="0" bIns="0" rtlCol="0" anchor="t"/>
          <a:lstStyle/>
          <a:p>
            <a:pPr algn="r" indent="0" marL="0">
              <a:buNone/>
            </a:pPr>
            <a:r>
              <a:rPr lang="en-US" sz="1100" b="1" dirty="0">
                <a:solidFill>
                  <a:srgbClr val="14213D"/>
                </a:solidFill>
                <a:latin typeface="Calibri" pitchFamily="34" charset="0"/>
                <a:ea typeface="Calibri" pitchFamily="34" charset="-122"/>
                <a:cs typeface="Calibri" pitchFamily="34" charset="-120"/>
              </a:rPr>
              <a:t>₹7,200</a:t>
            </a:r>
            <a:endParaRPr lang="en-US" sz="1100" dirty="0"/>
          </a:p>
        </p:txBody>
      </p:sp>
      <p:sp>
        <p:nvSpPr>
          <p:cNvPr id="30" name="Shape 27"/>
          <p:cNvSpPr/>
          <p:nvPr/>
        </p:nvSpPr>
        <p:spPr>
          <a:xfrm>
            <a:off x="640080" y="3666744"/>
            <a:ext cx="118872" cy="118872"/>
          </a:xfrm>
          <a:prstGeom prst="rect">
            <a:avLst/>
          </a:prstGeom>
          <a:solidFill>
            <a:srgbClr val="F2A900"/>
          </a:solidFill>
          <a:ln w="12700">
            <a:solidFill>
              <a:srgbClr val="F2A900"/>
            </a:solidFill>
            <a:prstDash val="solid"/>
          </a:ln>
        </p:spPr>
      </p:sp>
      <p:sp>
        <p:nvSpPr>
          <p:cNvPr id="31" name="Text 28"/>
          <p:cNvSpPr txBox="1"/>
          <p:nvPr/>
        </p:nvSpPr>
        <p:spPr>
          <a:xfrm>
            <a:off x="841248" y="3611880"/>
            <a:ext cx="1280160" cy="237744"/>
          </a:xfrm>
          <a:prstGeom prst="rect">
            <a:avLst/>
          </a:prstGeom>
          <a:noFill/>
          <a:ln/>
        </p:spPr>
        <p:txBody>
          <a:bodyPr wrap="square" lIns="0" tIns="0" rIns="0" bIns="0" rtlCol="0" anchor="t"/>
          <a:lstStyle/>
          <a:p>
            <a:pPr indent="0" marL="0">
              <a:buNone/>
            </a:pPr>
            <a:r>
              <a:rPr lang="en-US" sz="1100" dirty="0">
                <a:solidFill>
                  <a:srgbClr val="14213D"/>
                </a:solidFill>
                <a:latin typeface="Calibri" pitchFamily="34" charset="0"/>
                <a:ea typeface="Calibri" pitchFamily="34" charset="-122"/>
                <a:cs typeface="Calibri" pitchFamily="34" charset="-120"/>
              </a:rPr>
              <a:t>Food</a:t>
            </a:r>
            <a:endParaRPr lang="en-US" sz="1100" dirty="0"/>
          </a:p>
        </p:txBody>
      </p:sp>
      <p:sp>
        <p:nvSpPr>
          <p:cNvPr id="32" name="Text 29"/>
          <p:cNvSpPr txBox="1"/>
          <p:nvPr/>
        </p:nvSpPr>
        <p:spPr>
          <a:xfrm>
            <a:off x="1920240" y="3611880"/>
            <a:ext cx="1005840" cy="237744"/>
          </a:xfrm>
          <a:prstGeom prst="rect">
            <a:avLst/>
          </a:prstGeom>
          <a:noFill/>
          <a:ln/>
        </p:spPr>
        <p:txBody>
          <a:bodyPr wrap="square" lIns="0" tIns="0" rIns="0" bIns="0" rtlCol="0" anchor="t"/>
          <a:lstStyle/>
          <a:p>
            <a:pPr algn="r" indent="0" marL="0">
              <a:buNone/>
            </a:pPr>
            <a:r>
              <a:rPr lang="en-US" sz="1100" b="1" dirty="0">
                <a:solidFill>
                  <a:srgbClr val="14213D"/>
                </a:solidFill>
                <a:latin typeface="Calibri" pitchFamily="34" charset="0"/>
                <a:ea typeface="Calibri" pitchFamily="34" charset="-122"/>
                <a:cs typeface="Calibri" pitchFamily="34" charset="-120"/>
              </a:rPr>
              <a:t>₹8,000</a:t>
            </a:r>
            <a:endParaRPr lang="en-US" sz="1100" dirty="0"/>
          </a:p>
        </p:txBody>
      </p:sp>
      <p:sp>
        <p:nvSpPr>
          <p:cNvPr id="33" name="Shape 30"/>
          <p:cNvSpPr/>
          <p:nvPr/>
        </p:nvSpPr>
        <p:spPr>
          <a:xfrm>
            <a:off x="3108960" y="3666744"/>
            <a:ext cx="118872" cy="118872"/>
          </a:xfrm>
          <a:prstGeom prst="rect">
            <a:avLst/>
          </a:prstGeom>
          <a:solidFill>
            <a:srgbClr val="6A5ACD"/>
          </a:solidFill>
          <a:ln w="12700">
            <a:solidFill>
              <a:srgbClr val="6A5ACD"/>
            </a:solidFill>
            <a:prstDash val="solid"/>
          </a:ln>
        </p:spPr>
      </p:sp>
      <p:sp>
        <p:nvSpPr>
          <p:cNvPr id="34" name="Text 31"/>
          <p:cNvSpPr txBox="1"/>
          <p:nvPr/>
        </p:nvSpPr>
        <p:spPr>
          <a:xfrm>
            <a:off x="3310128" y="3611880"/>
            <a:ext cx="1280160" cy="237744"/>
          </a:xfrm>
          <a:prstGeom prst="rect">
            <a:avLst/>
          </a:prstGeom>
          <a:noFill/>
          <a:ln/>
        </p:spPr>
        <p:txBody>
          <a:bodyPr wrap="square" lIns="0" tIns="0" rIns="0" bIns="0" rtlCol="0" anchor="t"/>
          <a:lstStyle/>
          <a:p>
            <a:pPr indent="0" marL="0">
              <a:buNone/>
            </a:pPr>
            <a:r>
              <a:rPr lang="en-US" sz="1100" dirty="0">
                <a:solidFill>
                  <a:srgbClr val="14213D"/>
                </a:solidFill>
                <a:latin typeface="Calibri" pitchFamily="34" charset="0"/>
                <a:ea typeface="Calibri" pitchFamily="34" charset="-122"/>
                <a:cs typeface="Calibri" pitchFamily="34" charset="-120"/>
              </a:rPr>
              <a:t>Activities</a:t>
            </a:r>
            <a:endParaRPr lang="en-US" sz="1100" dirty="0"/>
          </a:p>
        </p:txBody>
      </p:sp>
      <p:sp>
        <p:nvSpPr>
          <p:cNvPr id="35" name="Text 32"/>
          <p:cNvSpPr txBox="1"/>
          <p:nvPr/>
        </p:nvSpPr>
        <p:spPr>
          <a:xfrm>
            <a:off x="4389120" y="3611880"/>
            <a:ext cx="1005840" cy="237744"/>
          </a:xfrm>
          <a:prstGeom prst="rect">
            <a:avLst/>
          </a:prstGeom>
          <a:noFill/>
          <a:ln/>
        </p:spPr>
        <p:txBody>
          <a:bodyPr wrap="square" lIns="0" tIns="0" rIns="0" bIns="0" rtlCol="0" anchor="t"/>
          <a:lstStyle/>
          <a:p>
            <a:pPr algn="r" indent="0" marL="0">
              <a:buNone/>
            </a:pPr>
            <a:r>
              <a:rPr lang="en-US" sz="1100" b="1" dirty="0">
                <a:solidFill>
                  <a:srgbClr val="14213D"/>
                </a:solidFill>
                <a:latin typeface="Calibri" pitchFamily="34" charset="0"/>
                <a:ea typeface="Calibri" pitchFamily="34" charset="-122"/>
                <a:cs typeface="Calibri" pitchFamily="34" charset="-120"/>
              </a:rPr>
              <a:t>₹8,000</a:t>
            </a:r>
            <a:endParaRPr lang="en-US" sz="1100" dirty="0"/>
          </a:p>
        </p:txBody>
      </p:sp>
      <p:sp>
        <p:nvSpPr>
          <p:cNvPr id="36" name="Shape 33"/>
          <p:cNvSpPr/>
          <p:nvPr/>
        </p:nvSpPr>
        <p:spPr>
          <a:xfrm>
            <a:off x="640080" y="4032504"/>
            <a:ext cx="118872" cy="118872"/>
          </a:xfrm>
          <a:prstGeom prst="rect">
            <a:avLst/>
          </a:prstGeom>
          <a:solidFill>
            <a:srgbClr val="3B9AE1"/>
          </a:solidFill>
          <a:ln w="12700">
            <a:solidFill>
              <a:srgbClr val="3B9AE1"/>
            </a:solidFill>
            <a:prstDash val="solid"/>
          </a:ln>
        </p:spPr>
      </p:sp>
      <p:sp>
        <p:nvSpPr>
          <p:cNvPr id="37" name="Text 34"/>
          <p:cNvSpPr txBox="1"/>
          <p:nvPr/>
        </p:nvSpPr>
        <p:spPr>
          <a:xfrm>
            <a:off x="841248" y="3977640"/>
            <a:ext cx="1280160" cy="237744"/>
          </a:xfrm>
          <a:prstGeom prst="rect">
            <a:avLst/>
          </a:prstGeom>
          <a:noFill/>
          <a:ln/>
        </p:spPr>
        <p:txBody>
          <a:bodyPr wrap="square" lIns="0" tIns="0" rIns="0" bIns="0" rtlCol="0" anchor="t"/>
          <a:lstStyle/>
          <a:p>
            <a:pPr indent="0" marL="0">
              <a:buNone/>
            </a:pPr>
            <a:r>
              <a:rPr lang="en-US" sz="1100" dirty="0">
                <a:solidFill>
                  <a:srgbClr val="14213D"/>
                </a:solidFill>
                <a:latin typeface="Calibri" pitchFamily="34" charset="0"/>
                <a:ea typeface="Calibri" pitchFamily="34" charset="-122"/>
                <a:cs typeface="Calibri" pitchFamily="34" charset="-120"/>
              </a:rPr>
              <a:t>Local transport</a:t>
            </a:r>
            <a:endParaRPr lang="en-US" sz="1100" dirty="0"/>
          </a:p>
        </p:txBody>
      </p:sp>
      <p:sp>
        <p:nvSpPr>
          <p:cNvPr id="38" name="Text 35"/>
          <p:cNvSpPr txBox="1"/>
          <p:nvPr/>
        </p:nvSpPr>
        <p:spPr>
          <a:xfrm>
            <a:off x="1920240" y="3977640"/>
            <a:ext cx="1005840" cy="237744"/>
          </a:xfrm>
          <a:prstGeom prst="rect">
            <a:avLst/>
          </a:prstGeom>
          <a:noFill/>
          <a:ln/>
        </p:spPr>
        <p:txBody>
          <a:bodyPr wrap="square" lIns="0" tIns="0" rIns="0" bIns="0" rtlCol="0" anchor="t"/>
          <a:lstStyle/>
          <a:p>
            <a:pPr algn="r" indent="0" marL="0">
              <a:buNone/>
            </a:pPr>
            <a:r>
              <a:rPr lang="en-US" sz="1100" b="1" dirty="0">
                <a:solidFill>
                  <a:srgbClr val="14213D"/>
                </a:solidFill>
                <a:latin typeface="Calibri" pitchFamily="34" charset="0"/>
                <a:ea typeface="Calibri" pitchFamily="34" charset="-122"/>
                <a:cs typeface="Calibri" pitchFamily="34" charset="-120"/>
              </a:rPr>
              <a:t>₹3,500</a:t>
            </a:r>
            <a:endParaRPr lang="en-US" sz="1100" dirty="0"/>
          </a:p>
        </p:txBody>
      </p:sp>
      <p:sp>
        <p:nvSpPr>
          <p:cNvPr id="39" name="Shape 36"/>
          <p:cNvSpPr/>
          <p:nvPr/>
        </p:nvSpPr>
        <p:spPr>
          <a:xfrm>
            <a:off x="3108960" y="4032504"/>
            <a:ext cx="118872" cy="118872"/>
          </a:xfrm>
          <a:prstGeom prst="rect">
            <a:avLst/>
          </a:prstGeom>
          <a:solidFill>
            <a:srgbClr val="9AA8B8"/>
          </a:solidFill>
          <a:ln w="12700">
            <a:solidFill>
              <a:srgbClr val="9AA8B8"/>
            </a:solidFill>
            <a:prstDash val="solid"/>
          </a:ln>
        </p:spPr>
      </p:sp>
      <p:sp>
        <p:nvSpPr>
          <p:cNvPr id="40" name="Text 37"/>
          <p:cNvSpPr txBox="1"/>
          <p:nvPr/>
        </p:nvSpPr>
        <p:spPr>
          <a:xfrm>
            <a:off x="3310128" y="3977640"/>
            <a:ext cx="1280160" cy="237744"/>
          </a:xfrm>
          <a:prstGeom prst="rect">
            <a:avLst/>
          </a:prstGeom>
          <a:noFill/>
          <a:ln/>
        </p:spPr>
        <p:txBody>
          <a:bodyPr wrap="square" lIns="0" tIns="0" rIns="0" bIns="0" rtlCol="0" anchor="t"/>
          <a:lstStyle/>
          <a:p>
            <a:pPr indent="0" marL="0">
              <a:buNone/>
            </a:pPr>
            <a:r>
              <a:rPr lang="en-US" sz="1100" dirty="0">
                <a:solidFill>
                  <a:srgbClr val="14213D"/>
                </a:solidFill>
                <a:latin typeface="Calibri" pitchFamily="34" charset="0"/>
                <a:ea typeface="Calibri" pitchFamily="34" charset="-122"/>
                <a:cs typeface="Calibri" pitchFamily="34" charset="-120"/>
              </a:rPr>
              <a:t>Buffer</a:t>
            </a:r>
            <a:endParaRPr lang="en-US" sz="1100" dirty="0"/>
          </a:p>
        </p:txBody>
      </p:sp>
      <p:sp>
        <p:nvSpPr>
          <p:cNvPr id="41" name="Text 38"/>
          <p:cNvSpPr txBox="1"/>
          <p:nvPr/>
        </p:nvSpPr>
        <p:spPr>
          <a:xfrm>
            <a:off x="4389120" y="3977640"/>
            <a:ext cx="1005840" cy="237744"/>
          </a:xfrm>
          <a:prstGeom prst="rect">
            <a:avLst/>
          </a:prstGeom>
          <a:noFill/>
          <a:ln/>
        </p:spPr>
        <p:txBody>
          <a:bodyPr wrap="square" lIns="0" tIns="0" rIns="0" bIns="0" rtlCol="0" anchor="t"/>
          <a:lstStyle/>
          <a:p>
            <a:pPr algn="r" indent="0" marL="0">
              <a:buNone/>
            </a:pPr>
            <a:r>
              <a:rPr lang="en-US" sz="1100" b="1" dirty="0">
                <a:solidFill>
                  <a:srgbClr val="14213D"/>
                </a:solidFill>
                <a:latin typeface="Calibri" pitchFamily="34" charset="0"/>
                <a:ea typeface="Calibri" pitchFamily="34" charset="-122"/>
                <a:cs typeface="Calibri" pitchFamily="34" charset="-120"/>
              </a:rPr>
              <a:t>₹3,470</a:t>
            </a:r>
            <a:endParaRPr lang="en-US" sz="1100" dirty="0"/>
          </a:p>
        </p:txBody>
      </p:sp>
      <p:sp>
        <p:nvSpPr>
          <p:cNvPr id="42" name="Text 39"/>
          <p:cNvSpPr txBox="1"/>
          <p:nvPr/>
        </p:nvSpPr>
        <p:spPr>
          <a:xfrm>
            <a:off x="5852160" y="1051560"/>
            <a:ext cx="2834640" cy="274320"/>
          </a:xfrm>
          <a:prstGeom prst="rect">
            <a:avLst/>
          </a:prstGeom>
          <a:noFill/>
          <a:ln/>
        </p:spPr>
        <p:txBody>
          <a:bodyPr wrap="square" lIns="0" tIns="0" rIns="0" bIns="0" rtlCol="0" anchor="t"/>
          <a:lstStyle/>
          <a:p>
            <a:pPr indent="0" marL="0">
              <a:buNone/>
            </a:pPr>
            <a:r>
              <a:rPr lang="en-US" sz="1500" b="1" dirty="0">
                <a:solidFill>
                  <a:srgbClr val="0E7C86"/>
                </a:solidFill>
                <a:latin typeface="Calibri" pitchFamily="34" charset="0"/>
                <a:ea typeface="Calibri" pitchFamily="34" charset="-122"/>
                <a:cs typeface="Calibri" pitchFamily="34" charset="-120"/>
              </a:rPr>
              <a:t>What the planner does</a:t>
            </a:r>
            <a:endParaRPr lang="en-US" sz="1500" dirty="0"/>
          </a:p>
        </p:txBody>
      </p:sp>
      <p:sp>
        <p:nvSpPr>
          <p:cNvPr id="43" name="Text 40"/>
          <p:cNvSpPr txBox="1"/>
          <p:nvPr/>
        </p:nvSpPr>
        <p:spPr>
          <a:xfrm>
            <a:off x="5852160" y="1417320"/>
            <a:ext cx="2834640" cy="1554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4213D"/>
                </a:solidFill>
                <a:latin typeface="Calibri" pitchFamily="34" charset="0"/>
                <a:ea typeface="Calibri" pitchFamily="34" charset="-122"/>
                <a:cs typeface="Calibri" pitchFamily="34" charset="-120"/>
              </a:rPr>
              <a:t>Enter budget, people and days</a:t>
            </a:r>
            <a:endParaRPr lang="en-US" sz="1300" dirty="0"/>
          </a:p>
          <a:p>
            <a:pPr marL="342900" indent="-342900">
              <a:spcAft>
                <a:spcPts val="600"/>
              </a:spcAft>
              <a:buSzPct val="100000"/>
              <a:buChar char="•"/>
            </a:pPr>
            <a:r>
              <a:rPr lang="en-US" sz="1300" dirty="0">
                <a:solidFill>
                  <a:srgbClr val="14213D"/>
                </a:solidFill>
                <a:latin typeface="Calibri" pitchFamily="34" charset="0"/>
                <a:ea typeface="Calibri" pitchFamily="34" charset="-122"/>
                <a:cs typeface="Calibri" pitchFamily="34" charset="-120"/>
              </a:rPr>
              <a:t>Auto picks the best place</a:t>
            </a:r>
            <a:endParaRPr lang="en-US" sz="1300" dirty="0"/>
          </a:p>
          <a:p>
            <a:pPr marL="342900" indent="-342900">
              <a:spcAft>
                <a:spcPts val="600"/>
              </a:spcAft>
              <a:buSzPct val="100000"/>
              <a:buChar char="•"/>
            </a:pPr>
            <a:r>
              <a:rPr lang="en-US" sz="1300" dirty="0">
                <a:solidFill>
                  <a:srgbClr val="14213D"/>
                </a:solidFill>
                <a:latin typeface="Calibri" pitchFamily="34" charset="0"/>
                <a:ea typeface="Calibri" pitchFamily="34" charset="-122"/>
                <a:cs typeface="Calibri" pitchFamily="34" charset="-120"/>
              </a:rPr>
              <a:t>Split by category and person</a:t>
            </a:r>
            <a:endParaRPr lang="en-US" sz="1300" dirty="0"/>
          </a:p>
          <a:p>
            <a:pPr marL="342900" indent="-342900">
              <a:spcAft>
                <a:spcPts val="600"/>
              </a:spcAft>
              <a:buSzPct val="100000"/>
              <a:buChar char="•"/>
            </a:pPr>
            <a:r>
              <a:rPr lang="en-US" sz="1300" dirty="0">
                <a:solidFill>
                  <a:srgbClr val="14213D"/>
                </a:solidFill>
                <a:latin typeface="Calibri" pitchFamily="34" charset="0"/>
                <a:ea typeface="Calibri" pitchFamily="34" charset="-122"/>
                <a:cs typeface="Calibri" pitchFamily="34" charset="-120"/>
              </a:rPr>
              <a:t>Day by day plan, copy or print</a:t>
            </a:r>
            <a:endParaRPr lang="en-US" sz="1300" dirty="0"/>
          </a:p>
        </p:txBody>
      </p:sp>
      <p:sp>
        <p:nvSpPr>
          <p:cNvPr id="44" name="Shape 41"/>
          <p:cNvSpPr/>
          <p:nvPr/>
        </p:nvSpPr>
        <p:spPr>
          <a:xfrm>
            <a:off x="5852160" y="3108960"/>
            <a:ext cx="2834640" cy="1508760"/>
          </a:xfrm>
          <a:prstGeom prst="roundRect">
            <a:avLst>
              <a:gd name="adj" fmla="val 4848"/>
            </a:avLst>
          </a:prstGeom>
          <a:solidFill>
            <a:srgbClr val="14213D"/>
          </a:solidFill>
          <a:ln w="9525">
            <a:solidFill>
              <a:srgbClr val="14213D"/>
            </a:solidFill>
            <a:prstDash val="solid"/>
          </a:ln>
        </p:spPr>
      </p:sp>
      <p:sp>
        <p:nvSpPr>
          <p:cNvPr id="45" name="Text 42"/>
          <p:cNvSpPr txBox="1"/>
          <p:nvPr/>
        </p:nvSpPr>
        <p:spPr>
          <a:xfrm>
            <a:off x="6035040" y="3218688"/>
            <a:ext cx="2468880" cy="228600"/>
          </a:xfrm>
          <a:prstGeom prst="rect">
            <a:avLst/>
          </a:prstGeom>
          <a:noFill/>
          <a:ln/>
        </p:spPr>
        <p:txBody>
          <a:bodyPr wrap="square" lIns="0" tIns="0" rIns="0" bIns="0" rtlCol="0" anchor="t"/>
          <a:lstStyle/>
          <a:p>
            <a:pPr indent="0" marL="0">
              <a:buNone/>
            </a:pPr>
            <a:r>
              <a:rPr lang="en-US" sz="1200" b="1" dirty="0">
                <a:solidFill>
                  <a:srgbClr val="F2A900"/>
                </a:solidFill>
                <a:latin typeface="Calibri" pitchFamily="34" charset="0"/>
                <a:ea typeface="Calibri" pitchFamily="34" charset="-122"/>
                <a:cs typeface="Calibri" pitchFamily="34" charset="-120"/>
              </a:rPr>
              <a:t>Day 1</a:t>
            </a:r>
            <a:endParaRPr lang="en-US" sz="1200" dirty="0"/>
          </a:p>
        </p:txBody>
      </p:sp>
      <p:sp>
        <p:nvSpPr>
          <p:cNvPr id="46" name="Text 43"/>
          <p:cNvSpPr txBox="1"/>
          <p:nvPr/>
        </p:nvSpPr>
        <p:spPr>
          <a:xfrm>
            <a:off x="6035040" y="3520440"/>
            <a:ext cx="2468880" cy="100584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Travel to Udaipur, check in and rest. Evening: City Palace.</a:t>
            </a:r>
            <a:endParaRPr lang="en-US" sz="1200" dirty="0"/>
          </a:p>
        </p:txBody>
      </p:sp>
      <p:sp>
        <p:nvSpPr>
          <p:cNvPr id="47" name="Text 44"/>
          <p:cNvSpPr txBox="1"/>
          <p:nvPr/>
        </p:nvSpPr>
        <p:spPr>
          <a:xfrm>
            <a:off x="457200" y="4709160"/>
            <a:ext cx="6858000" cy="274320"/>
          </a:xfrm>
          <a:prstGeom prst="rect">
            <a:avLst/>
          </a:prstGeom>
          <a:noFill/>
          <a:ln/>
        </p:spPr>
        <p:txBody>
          <a:bodyPr wrap="square" lIns="0" tIns="0" rIns="0" bIns="0" rtlCol="0" anchor="t"/>
          <a:lstStyle/>
          <a:p>
            <a:pPr indent="0" marL="0">
              <a:buNone/>
            </a:pPr>
            <a:r>
              <a:rPr lang="en-US" sz="1100" dirty="0">
                <a:solidFill>
                  <a:srgbClr val="5B6B7F"/>
                </a:solidFill>
                <a:latin typeface="Calibri" pitchFamily="34" charset="0"/>
                <a:ea typeface="Calibri" pitchFamily="34" charset="-122"/>
                <a:cs typeface="Calibri" pitchFamily="34" charset="-120"/>
              </a:rPr>
              <a:t>Sample inputs: ₹40,000, 4 people, 5 days. The live demo runs the same planner.</a:t>
            </a:r>
            <a:endParaRPr lang="en-US" sz="11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Impact and what comes next</a:t>
            </a:r>
            <a:endParaRPr lang="en-US" sz="2600" dirty="0"/>
          </a:p>
        </p:txBody>
      </p:sp>
      <p:sp>
        <p:nvSpPr>
          <p:cNvPr id="4" name="Text 1"/>
          <p:cNvSpPr txBox="1"/>
          <p:nvPr/>
        </p:nvSpPr>
        <p:spPr>
          <a:xfrm>
            <a:off x="457200" y="1051560"/>
            <a:ext cx="3931920" cy="274320"/>
          </a:xfrm>
          <a:prstGeom prst="rect">
            <a:avLst/>
          </a:prstGeom>
          <a:noFill/>
          <a:ln/>
        </p:spPr>
        <p:txBody>
          <a:bodyPr wrap="square" lIns="0" tIns="0" rIns="0" bIns="0" rtlCol="0" anchor="t"/>
          <a:lstStyle/>
          <a:p>
            <a:pPr indent="0" marL="0">
              <a:buNone/>
            </a:pPr>
            <a:r>
              <a:rPr lang="en-US" sz="1500" b="1" dirty="0">
                <a:solidFill>
                  <a:srgbClr val="0E7C86"/>
                </a:solidFill>
                <a:latin typeface="Calibri" pitchFamily="34" charset="0"/>
                <a:ea typeface="Calibri" pitchFamily="34" charset="-122"/>
                <a:cs typeface="Calibri" pitchFamily="34" charset="-120"/>
              </a:rPr>
              <a:t>Impact</a:t>
            </a:r>
            <a:endParaRPr lang="en-US" sz="1500" dirty="0"/>
          </a:p>
        </p:txBody>
      </p:sp>
      <p:sp>
        <p:nvSpPr>
          <p:cNvPr id="5" name="Text 2"/>
          <p:cNvSpPr txBox="1"/>
          <p:nvPr/>
        </p:nvSpPr>
        <p:spPr>
          <a:xfrm>
            <a:off x="4663440" y="1051560"/>
            <a:ext cx="4023360" cy="274320"/>
          </a:xfrm>
          <a:prstGeom prst="rect">
            <a:avLst/>
          </a:prstGeom>
          <a:noFill/>
          <a:ln/>
        </p:spPr>
        <p:txBody>
          <a:bodyPr wrap="square" lIns="0" tIns="0" rIns="0" bIns="0" rtlCol="0" anchor="t"/>
          <a:lstStyle/>
          <a:p>
            <a:pPr indent="0" marL="0">
              <a:buNone/>
            </a:pPr>
            <a:r>
              <a:rPr lang="en-US" sz="1500" b="1" dirty="0">
                <a:solidFill>
                  <a:srgbClr val="0E7C86"/>
                </a:solidFill>
                <a:latin typeface="Calibri" pitchFamily="34" charset="0"/>
                <a:ea typeface="Calibri" pitchFamily="34" charset="-122"/>
                <a:cs typeface="Calibri" pitchFamily="34" charset="-120"/>
              </a:rPr>
              <a:t>Roadmap</a:t>
            </a:r>
            <a:endParaRPr lang="en-US" sz="1500" dirty="0"/>
          </a:p>
        </p:txBody>
      </p:sp>
      <p:sp>
        <p:nvSpPr>
          <p:cNvPr id="6" name="Shape 3"/>
          <p:cNvSpPr/>
          <p:nvPr/>
        </p:nvSpPr>
        <p:spPr>
          <a:xfrm>
            <a:off x="457200" y="1417320"/>
            <a:ext cx="3931920" cy="621792"/>
          </a:xfrm>
          <a:prstGeom prst="roundRect">
            <a:avLst>
              <a:gd name="adj" fmla="val 11765"/>
            </a:avLst>
          </a:prstGeom>
          <a:solidFill>
            <a:srgbClr val="FFFFFF"/>
          </a:solidFill>
          <a:ln w="9525">
            <a:solidFill>
              <a:srgbClr val="D9E2EA"/>
            </a:solidFill>
            <a:prstDash val="solid"/>
          </a:ln>
        </p:spPr>
      </p:sp>
      <p:sp>
        <p:nvSpPr>
          <p:cNvPr id="7" name="Text 4"/>
          <p:cNvSpPr txBox="1"/>
          <p:nvPr/>
        </p:nvSpPr>
        <p:spPr>
          <a:xfrm>
            <a:off x="640080" y="1417320"/>
            <a:ext cx="3566160" cy="621792"/>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No more fights over budget</a:t>
            </a:r>
            <a:endParaRPr lang="en-US" sz="1400" dirty="0"/>
          </a:p>
        </p:txBody>
      </p:sp>
      <p:sp>
        <p:nvSpPr>
          <p:cNvPr id="8" name="Shape 5"/>
          <p:cNvSpPr/>
          <p:nvPr/>
        </p:nvSpPr>
        <p:spPr>
          <a:xfrm>
            <a:off x="457200" y="2148840"/>
            <a:ext cx="3931920" cy="621792"/>
          </a:xfrm>
          <a:prstGeom prst="roundRect">
            <a:avLst>
              <a:gd name="adj" fmla="val 11765"/>
            </a:avLst>
          </a:prstGeom>
          <a:solidFill>
            <a:srgbClr val="FFFFFF"/>
          </a:solidFill>
          <a:ln w="9525">
            <a:solidFill>
              <a:srgbClr val="D9E2EA"/>
            </a:solidFill>
            <a:prstDash val="solid"/>
          </a:ln>
        </p:spPr>
      </p:sp>
      <p:sp>
        <p:nvSpPr>
          <p:cNvPr id="9" name="Text 6"/>
          <p:cNvSpPr txBox="1"/>
          <p:nvPr/>
        </p:nvSpPr>
        <p:spPr>
          <a:xfrm>
            <a:off x="640080" y="2148840"/>
            <a:ext cx="3566160" cy="621792"/>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Planning in seconds, not hours</a:t>
            </a:r>
            <a:endParaRPr lang="en-US" sz="1400" dirty="0"/>
          </a:p>
        </p:txBody>
      </p:sp>
      <p:sp>
        <p:nvSpPr>
          <p:cNvPr id="10" name="Shape 7"/>
          <p:cNvSpPr/>
          <p:nvPr/>
        </p:nvSpPr>
        <p:spPr>
          <a:xfrm>
            <a:off x="457200" y="2880360"/>
            <a:ext cx="3931920" cy="621792"/>
          </a:xfrm>
          <a:prstGeom prst="roundRect">
            <a:avLst>
              <a:gd name="adj" fmla="val 11765"/>
            </a:avLst>
          </a:prstGeom>
          <a:solidFill>
            <a:srgbClr val="FFFFFF"/>
          </a:solidFill>
          <a:ln w="9525">
            <a:solidFill>
              <a:srgbClr val="D9E2EA"/>
            </a:solidFill>
            <a:prstDash val="solid"/>
          </a:ln>
        </p:spPr>
      </p:sp>
      <p:sp>
        <p:nvSpPr>
          <p:cNvPr id="11" name="Text 8"/>
          <p:cNvSpPr txBox="1"/>
          <p:nvPr/>
        </p:nvSpPr>
        <p:spPr>
          <a:xfrm>
            <a:off x="640080" y="2880360"/>
            <a:ext cx="3566160" cy="621792"/>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A clear share for every person</a:t>
            </a:r>
            <a:endParaRPr lang="en-US" sz="1400" dirty="0"/>
          </a:p>
        </p:txBody>
      </p:sp>
      <p:sp>
        <p:nvSpPr>
          <p:cNvPr id="12" name="Shape 9"/>
          <p:cNvSpPr/>
          <p:nvPr/>
        </p:nvSpPr>
        <p:spPr>
          <a:xfrm>
            <a:off x="4663440" y="1417320"/>
            <a:ext cx="4023360" cy="621792"/>
          </a:xfrm>
          <a:prstGeom prst="roundRect">
            <a:avLst>
              <a:gd name="adj" fmla="val 11765"/>
            </a:avLst>
          </a:prstGeom>
          <a:solidFill>
            <a:srgbClr val="FFFFFF"/>
          </a:solidFill>
          <a:ln w="9525">
            <a:solidFill>
              <a:srgbClr val="D9E2EA"/>
            </a:solidFill>
            <a:prstDash val="solid"/>
          </a:ln>
        </p:spPr>
      </p:sp>
      <p:sp>
        <p:nvSpPr>
          <p:cNvPr id="13" name="Shape 10"/>
          <p:cNvSpPr/>
          <p:nvPr/>
        </p:nvSpPr>
        <p:spPr>
          <a:xfrm>
            <a:off x="4800600" y="1563624"/>
            <a:ext cx="685800" cy="329184"/>
          </a:xfrm>
          <a:prstGeom prst="roundRect">
            <a:avLst>
              <a:gd name="adj" fmla="val 22222"/>
            </a:avLst>
          </a:prstGeom>
          <a:solidFill>
            <a:srgbClr val="0E7C86"/>
          </a:solidFill>
          <a:ln w="9525">
            <a:solidFill>
              <a:srgbClr val="0E7C86"/>
            </a:solidFill>
            <a:prstDash val="solid"/>
          </a:ln>
        </p:spPr>
      </p:sp>
      <p:sp>
        <p:nvSpPr>
          <p:cNvPr id="14" name="Text 11"/>
          <p:cNvSpPr txBox="1"/>
          <p:nvPr/>
        </p:nvSpPr>
        <p:spPr>
          <a:xfrm>
            <a:off x="4800600" y="1563624"/>
            <a:ext cx="68580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Now</a:t>
            </a:r>
            <a:endParaRPr lang="en-US" sz="1200" dirty="0"/>
          </a:p>
        </p:txBody>
      </p:sp>
      <p:sp>
        <p:nvSpPr>
          <p:cNvPr id="15" name="Text 12"/>
          <p:cNvSpPr txBox="1"/>
          <p:nvPr/>
        </p:nvSpPr>
        <p:spPr>
          <a:xfrm>
            <a:off x="5623560" y="1417320"/>
            <a:ext cx="2971800" cy="621792"/>
          </a:xfrm>
          <a:prstGeom prst="rect">
            <a:avLst/>
          </a:prstGeom>
          <a:noFill/>
          <a:ln/>
        </p:spPr>
        <p:txBody>
          <a:bodyPr wrap="square" lIns="0" tIns="0" rIns="0" bIns="0" rtlCol="0" anchor="ctr"/>
          <a:lstStyle/>
          <a:p>
            <a:pPr indent="0" marL="0">
              <a:buNone/>
            </a:pPr>
            <a:r>
              <a:rPr lang="en-US" sz="1200" dirty="0">
                <a:solidFill>
                  <a:srgbClr val="14213D"/>
                </a:solidFill>
                <a:latin typeface="Calibri" pitchFamily="34" charset="0"/>
                <a:ea typeface="Calibri" pitchFamily="34" charset="-122"/>
                <a:cs typeface="Calibri" pitchFamily="34" charset="-120"/>
              </a:rPr>
              <a:t>10 places, budget fit, split, day plan</a:t>
            </a:r>
            <a:endParaRPr lang="en-US" sz="1200" dirty="0"/>
          </a:p>
        </p:txBody>
      </p:sp>
      <p:sp>
        <p:nvSpPr>
          <p:cNvPr id="16" name="Shape 13"/>
          <p:cNvSpPr/>
          <p:nvPr/>
        </p:nvSpPr>
        <p:spPr>
          <a:xfrm>
            <a:off x="4663440" y="2148840"/>
            <a:ext cx="4023360" cy="621792"/>
          </a:xfrm>
          <a:prstGeom prst="roundRect">
            <a:avLst>
              <a:gd name="adj" fmla="val 11765"/>
            </a:avLst>
          </a:prstGeom>
          <a:solidFill>
            <a:srgbClr val="FFFFFF"/>
          </a:solidFill>
          <a:ln w="9525">
            <a:solidFill>
              <a:srgbClr val="D9E2EA"/>
            </a:solidFill>
            <a:prstDash val="solid"/>
          </a:ln>
        </p:spPr>
      </p:sp>
      <p:sp>
        <p:nvSpPr>
          <p:cNvPr id="17" name="Shape 14"/>
          <p:cNvSpPr/>
          <p:nvPr/>
        </p:nvSpPr>
        <p:spPr>
          <a:xfrm>
            <a:off x="4800600" y="2295144"/>
            <a:ext cx="685800" cy="329184"/>
          </a:xfrm>
          <a:prstGeom prst="roundRect">
            <a:avLst>
              <a:gd name="adj" fmla="val 22222"/>
            </a:avLst>
          </a:prstGeom>
          <a:solidFill>
            <a:srgbClr val="F2A900"/>
          </a:solidFill>
          <a:ln w="9525">
            <a:solidFill>
              <a:srgbClr val="F2A900"/>
            </a:solidFill>
            <a:prstDash val="solid"/>
          </a:ln>
        </p:spPr>
      </p:sp>
      <p:sp>
        <p:nvSpPr>
          <p:cNvPr id="18" name="Text 15"/>
          <p:cNvSpPr txBox="1"/>
          <p:nvPr/>
        </p:nvSpPr>
        <p:spPr>
          <a:xfrm>
            <a:off x="4800600" y="2295144"/>
            <a:ext cx="68580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Next</a:t>
            </a:r>
            <a:endParaRPr lang="en-US" sz="1200" dirty="0"/>
          </a:p>
        </p:txBody>
      </p:sp>
      <p:sp>
        <p:nvSpPr>
          <p:cNvPr id="19" name="Text 16"/>
          <p:cNvSpPr txBox="1"/>
          <p:nvPr/>
        </p:nvSpPr>
        <p:spPr>
          <a:xfrm>
            <a:off x="5623560" y="2148840"/>
            <a:ext cx="2971800" cy="621792"/>
          </a:xfrm>
          <a:prstGeom prst="rect">
            <a:avLst/>
          </a:prstGeom>
          <a:noFill/>
          <a:ln/>
        </p:spPr>
        <p:txBody>
          <a:bodyPr wrap="square" lIns="0" tIns="0" rIns="0" bIns="0" rtlCol="0" anchor="ctr"/>
          <a:lstStyle/>
          <a:p>
            <a:pPr indent="0" marL="0">
              <a:buNone/>
            </a:pPr>
            <a:r>
              <a:rPr lang="en-US" sz="1200" dirty="0">
                <a:solidFill>
                  <a:srgbClr val="14213D"/>
                </a:solidFill>
                <a:latin typeface="Calibri" pitchFamily="34" charset="0"/>
                <a:ea typeface="Calibri" pitchFamily="34" charset="-122"/>
                <a:cs typeface="Calibri" pitchFamily="34" charset="-120"/>
              </a:rPr>
              <a:t>Claude API requests, live prices</a:t>
            </a:r>
            <a:endParaRPr lang="en-US" sz="1200" dirty="0"/>
          </a:p>
        </p:txBody>
      </p:sp>
      <p:sp>
        <p:nvSpPr>
          <p:cNvPr id="20" name="Shape 17"/>
          <p:cNvSpPr/>
          <p:nvPr/>
        </p:nvSpPr>
        <p:spPr>
          <a:xfrm>
            <a:off x="4663440" y="2880360"/>
            <a:ext cx="4023360" cy="621792"/>
          </a:xfrm>
          <a:prstGeom prst="roundRect">
            <a:avLst>
              <a:gd name="adj" fmla="val 11765"/>
            </a:avLst>
          </a:prstGeom>
          <a:solidFill>
            <a:srgbClr val="FFFFFF"/>
          </a:solidFill>
          <a:ln w="9525">
            <a:solidFill>
              <a:srgbClr val="D9E2EA"/>
            </a:solidFill>
            <a:prstDash val="solid"/>
          </a:ln>
        </p:spPr>
      </p:sp>
      <p:sp>
        <p:nvSpPr>
          <p:cNvPr id="21" name="Shape 18"/>
          <p:cNvSpPr/>
          <p:nvPr/>
        </p:nvSpPr>
        <p:spPr>
          <a:xfrm>
            <a:off x="4800600" y="3026664"/>
            <a:ext cx="685800" cy="329184"/>
          </a:xfrm>
          <a:prstGeom prst="roundRect">
            <a:avLst>
              <a:gd name="adj" fmla="val 22222"/>
            </a:avLst>
          </a:prstGeom>
          <a:solidFill>
            <a:srgbClr val="5B6B7F"/>
          </a:solidFill>
          <a:ln w="9525">
            <a:solidFill>
              <a:srgbClr val="5B6B7F"/>
            </a:solidFill>
            <a:prstDash val="solid"/>
          </a:ln>
        </p:spPr>
      </p:sp>
      <p:sp>
        <p:nvSpPr>
          <p:cNvPr id="22" name="Text 19"/>
          <p:cNvSpPr txBox="1"/>
          <p:nvPr/>
        </p:nvSpPr>
        <p:spPr>
          <a:xfrm>
            <a:off x="4800600" y="3026664"/>
            <a:ext cx="68580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Later</a:t>
            </a:r>
            <a:endParaRPr lang="en-US" sz="1200" dirty="0"/>
          </a:p>
        </p:txBody>
      </p:sp>
      <p:sp>
        <p:nvSpPr>
          <p:cNvPr id="23" name="Text 20"/>
          <p:cNvSpPr txBox="1"/>
          <p:nvPr/>
        </p:nvSpPr>
        <p:spPr>
          <a:xfrm>
            <a:off x="5623560" y="2880360"/>
            <a:ext cx="2971800" cy="621792"/>
          </a:xfrm>
          <a:prstGeom prst="rect">
            <a:avLst/>
          </a:prstGeom>
          <a:noFill/>
          <a:ln/>
        </p:spPr>
        <p:txBody>
          <a:bodyPr wrap="square" lIns="0" tIns="0" rIns="0" bIns="0" rtlCol="0" anchor="ctr"/>
          <a:lstStyle/>
          <a:p>
            <a:pPr indent="0" marL="0">
              <a:buNone/>
            </a:pPr>
            <a:r>
              <a:rPr lang="en-US" sz="1200" dirty="0">
                <a:solidFill>
                  <a:srgbClr val="14213D"/>
                </a:solidFill>
                <a:latin typeface="Calibri" pitchFamily="34" charset="0"/>
                <a:ea typeface="Calibri" pitchFamily="34" charset="-122"/>
                <a:cs typeface="Calibri" pitchFamily="34" charset="-120"/>
              </a:rPr>
              <a:t>Group voting, expense tracker, app</a:t>
            </a:r>
            <a:endParaRPr lang="en-US" sz="1200" dirty="0"/>
          </a:p>
        </p:txBody>
      </p:sp>
      <p:sp>
        <p:nvSpPr>
          <p:cNvPr id="24" name="Text 21"/>
          <p:cNvSpPr txBox="1"/>
          <p:nvPr/>
        </p:nvSpPr>
        <p:spPr>
          <a:xfrm>
            <a:off x="457200" y="3657600"/>
            <a:ext cx="7680960" cy="274320"/>
          </a:xfrm>
          <a:prstGeom prst="rect">
            <a:avLst/>
          </a:prstGeom>
          <a:noFill/>
          <a:ln/>
        </p:spPr>
        <p:txBody>
          <a:bodyPr wrap="square" lIns="0" tIns="0" rIns="0" bIns="0" rtlCol="0" anchor="t"/>
          <a:lstStyle/>
          <a:p>
            <a:pPr indent="0" marL="0">
              <a:buNone/>
            </a:pPr>
            <a:r>
              <a:rPr lang="en-US" sz="1200" i="1" dirty="0">
                <a:solidFill>
                  <a:srgbClr val="5B6B7F"/>
                </a:solidFill>
                <a:latin typeface="Calibri" pitchFamily="34" charset="0"/>
                <a:ea typeface="Calibri" pitchFamily="34" charset="-122"/>
                <a:cs typeface="Calibri" pitchFamily="34" charset="-120"/>
              </a:rPr>
              <a:t>Privacy first: no login, and nothing leaves your browser.</a:t>
            </a:r>
            <a:endParaRPr lang="en-US" sz="1200" dirty="0"/>
          </a:p>
        </p:txBody>
      </p:sp>
      <p:sp>
        <p:nvSpPr>
          <p:cNvPr id="25" name="Shape 22"/>
          <p:cNvSpPr/>
          <p:nvPr/>
        </p:nvSpPr>
        <p:spPr>
          <a:xfrm>
            <a:off x="457200" y="4023360"/>
            <a:ext cx="7680960" cy="685800"/>
          </a:xfrm>
          <a:prstGeom prst="roundRect">
            <a:avLst>
              <a:gd name="adj" fmla="val 10667"/>
            </a:avLst>
          </a:prstGeom>
          <a:solidFill>
            <a:srgbClr val="14213D"/>
          </a:solidFill>
          <a:ln w="9525">
            <a:solidFill>
              <a:srgbClr val="14213D"/>
            </a:solidFill>
            <a:prstDash val="solid"/>
          </a:ln>
        </p:spPr>
      </p:sp>
      <p:sp>
        <p:nvSpPr>
          <p:cNvPr id="26" name="Text 23"/>
          <p:cNvSpPr txBox="1"/>
          <p:nvPr/>
        </p:nvSpPr>
        <p:spPr>
          <a:xfrm>
            <a:off x="685800" y="4023360"/>
            <a:ext cx="1828800" cy="6858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Thank you</a:t>
            </a:r>
            <a:endParaRPr lang="en-US" sz="2200" dirty="0"/>
          </a:p>
        </p:txBody>
      </p:sp>
      <p:sp>
        <p:nvSpPr>
          <p:cNvPr id="27" name="Text 24"/>
          <p:cNvSpPr txBox="1"/>
          <p:nvPr/>
        </p:nvSpPr>
        <p:spPr>
          <a:xfrm>
            <a:off x="2926080" y="4023360"/>
            <a:ext cx="5029200" cy="685800"/>
          </a:xfrm>
          <a:prstGeom prst="rect">
            <a:avLst/>
          </a:prstGeom>
          <a:noFill/>
          <a:ln/>
        </p:spPr>
        <p:txBody>
          <a:bodyPr wrap="square" lIns="0" tIns="0" rIns="0" bIns="0" rtlCol="0" anchor="ctr"/>
          <a:lstStyle/>
          <a:p>
            <a:pPr indent="0" marL="0">
              <a:buNone/>
            </a:pPr>
            <a:r>
              <a:rPr lang="en-US" sz="1300" dirty="0">
                <a:solidFill>
                  <a:srgbClr val="D5DEEC"/>
                </a:solidFill>
                <a:latin typeface="Calibri" pitchFamily="34" charset="0"/>
                <a:ea typeface="Calibri" pitchFamily="34" charset="-122"/>
                <a:cs typeface="Calibri" pitchFamily="34" charset="-120"/>
              </a:rPr>
              <a:t>GitHub: [add your link here]</a:t>
            </a:r>
            <a:endParaRPr lang="en-US" sz="1300" dirty="0"/>
          </a:p>
          <a:p>
            <a:pPr indent="0" marL="0">
              <a:buNone/>
            </a:pPr>
            <a:r>
              <a:rPr lang="en-US" sz="1300" dirty="0">
                <a:solidFill>
                  <a:srgbClr val="D5DEEC"/>
                </a:solidFill>
                <a:latin typeface="Calibri" pitchFamily="34" charset="0"/>
                <a:ea typeface="Calibri" pitchFamily="34" charset="-122"/>
                <a:cs typeface="Calibri" pitchFamily="34" charset="-120"/>
              </a:rPr>
              <a:t>Team: [add your team name]</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defRPr>
            </a:lvl1pPr>
          </a:lstStyle>
          <a:p>
            <a:pPr algn="l"/>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TripSaathi</dc:title>
  <dc:subject>PptxGenJS Presentation</dc:subject>
  <dc:creator>Team</dc:creator>
  <cp:lastModifiedBy>Team</cp:lastModifiedBy>
  <cp:revision>1</cp:revision>
  <dcterms:created xsi:type="dcterms:W3CDTF">2026-10-19T10:38:23Z</dcterms:created>
  <dcterms:modified xsi:type="dcterms:W3CDTF">2026-10-19T10:38:23Z</dcterms:modified>
</cp:coreProperties>
</file>